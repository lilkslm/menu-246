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 Présentez-vous et l'objectif de la démo : montrer comment Menu 246 simplifie la planification des repas de camp en 3 étapes rapides. Durée totale : ~15 min incluant démo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Demandez si les chefs reconnaissent ces situations. Cette slide valide leur vécu avant de montrer la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d'ensemble avant la démo. Survolez rapidement les 3 étapes — 30 secondes suffisent avant de plonger dans la démo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 Ouvrez l'app. Entrez les dates du camp, ajustez le nombre de participants. Montrez comment le nombre de jours se calcule seul. Donnez un vrai nom de camp pour rendre ça concret.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 Cherchez 'poulet', cliquez sur une recette pour la sélectionner, placez-la dans le lunch du mardi. Survolez pour montrer les ingrédients avec portions. Montrez la barre de progression en 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 Cliquez sur Générer. Montrez la liste d'épicerie interactive avec les cases à cocher. Exportez le menu visuel en PDF. Insistez sur les quantités calculées automatiquement — c'est le wow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Montrez rapidement la sauvegarde auto et la bibliothèque partagée — ce sont les fonctionnalités qui surprennent le plus les nouveaux utilisateurs.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Desktop pour la planification initiale (grand écran, clavier). Mobile pour consulter les recettes et cocher la liste d'épicerie directement au camp.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Partagez ce lien avant la fin de la réunion. Encouragez l'installation directe pendant la réunion — aidez ceux qui ont des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Envoyez ces instructions à l'avance aux utilisateurs Mac. La commande xattr est la méthode la plus fiable — montrez-la sur votre écran si quelqu'un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ithub.com/LilKslm/menu-246/releases/tag/v1.3.1"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E8621A"/>
          </a:solidFill>
          <a:ln w="12700">
            <a:solidFill>
              <a:srgbClr val="E8621A"/>
            </a:solidFill>
            <a:prstDash val="solid"/>
          </a:ln>
        </p:spPr>
      </p:sp>
      <p:sp>
        <p:nvSpPr>
          <p:cNvPr id="3" name="Shape 1"/>
          <p:cNvSpPr/>
          <p:nvPr/>
        </p:nvSpPr>
        <p:spPr>
          <a:xfrm>
            <a:off x="-731520" y="4754880"/>
            <a:ext cx="3657600" cy="3657600"/>
          </a:xfrm>
          <a:prstGeom prst="ellipse">
            <a:avLst/>
          </a:prstGeom>
          <a:solidFill>
            <a:srgbClr val="C44E0D">
              <a:alpha val="45000"/>
            </a:srgbClr>
          </a:solidFill>
          <a:ln w="12700">
            <a:solidFill>
              <a:srgbClr val="C44E0D"/>
            </a:solidFill>
            <a:prstDash val="solid"/>
          </a:ln>
        </p:spPr>
      </p:sp>
      <p:sp>
        <p:nvSpPr>
          <p:cNvPr id="4" name="Text 2"/>
          <p:cNvSpPr/>
          <p:nvPr/>
        </p:nvSpPr>
        <p:spPr>
          <a:xfrm>
            <a:off x="182880" y="1005840"/>
            <a:ext cx="3840480" cy="1188720"/>
          </a:xfrm>
          <a:prstGeom prst="rect">
            <a:avLst/>
          </a:prstGeom>
          <a:noFill/>
          <a:ln/>
        </p:spPr>
        <p:txBody>
          <a:bodyPr wrap="square" lIns="0" tIns="0" rIns="0" bIns="0" rtlCol="0" anchor="ctr"/>
          <a:lstStyle/>
          <a:p>
            <a:pPr algn="ctr" indent="0" marL="0">
              <a:buNone/>
            </a:pPr>
            <a:r>
              <a:rPr lang="en-US" sz="7200" dirty="0">
                <a:solidFill>
                  <a:srgbClr val="000000"/>
                </a:solidFill>
                <a:latin typeface="Calibri" pitchFamily="34" charset="0"/>
                <a:ea typeface="Calibri" pitchFamily="34" charset="-122"/>
                <a:cs typeface="Calibri" pitchFamily="34" charset="-120"/>
              </a:rPr>
              <a:t>🔥</a:t>
            </a:r>
            <a:endParaRPr lang="en-US" sz="7200" dirty="0"/>
          </a:p>
        </p:txBody>
      </p:sp>
      <p:sp>
        <p:nvSpPr>
          <p:cNvPr id="5" name="Text 3"/>
          <p:cNvSpPr/>
          <p:nvPr/>
        </p:nvSpPr>
        <p:spPr>
          <a:xfrm>
            <a:off x="91440" y="2148840"/>
            <a:ext cx="4023360" cy="2560320"/>
          </a:xfrm>
          <a:prstGeom prst="rect">
            <a:avLst/>
          </a:prstGeom>
          <a:noFill/>
          <a:ln/>
        </p:spPr>
        <p:txBody>
          <a:bodyPr wrap="square" lIns="0" tIns="0" rIns="0" bIns="0" rtlCol="0" anchor="t"/>
          <a:lstStyle/>
          <a:p>
            <a:pPr algn="ctr" indent="0" marL="0">
              <a:buNone/>
            </a:pPr>
            <a:r>
              <a:rPr lang="en-US" sz="6800" b="1" dirty="0">
                <a:solidFill>
                  <a:srgbClr val="FFFFFF"/>
                </a:solidFill>
                <a:latin typeface="Georgia" pitchFamily="34" charset="0"/>
                <a:ea typeface="Georgia" pitchFamily="34" charset="-122"/>
                <a:cs typeface="Georgia" pitchFamily="34" charset="-120"/>
              </a:rPr>
              <a:t>Menu</a:t>
            </a:r>
            <a:endParaRPr lang="en-US" sz="6800" dirty="0"/>
          </a:p>
          <a:p>
            <a:pPr algn="ctr" indent="0" marL="0">
              <a:buNone/>
            </a:pPr>
            <a:r>
              <a:rPr lang="en-US" sz="6800" b="1" dirty="0">
                <a:solidFill>
                  <a:srgbClr val="FFFFFF"/>
                </a:solidFill>
                <a:latin typeface="Georgia" pitchFamily="34" charset="0"/>
                <a:ea typeface="Georgia" pitchFamily="34" charset="-122"/>
                <a:cs typeface="Georgia" pitchFamily="34" charset="-120"/>
              </a:rPr>
              <a:t>246</a:t>
            </a:r>
            <a:endParaRPr lang="en-US" sz="6800" dirty="0"/>
          </a:p>
        </p:txBody>
      </p:sp>
      <p:sp>
        <p:nvSpPr>
          <p:cNvPr id="6" name="Text 4"/>
          <p:cNvSpPr/>
          <p:nvPr/>
        </p:nvSpPr>
        <p:spPr>
          <a:xfrm>
            <a:off x="4663440" y="1463040"/>
            <a:ext cx="7040880" cy="1463040"/>
          </a:xfrm>
          <a:prstGeom prst="rect">
            <a:avLst/>
          </a:prstGeom>
          <a:noFill/>
          <a:ln/>
        </p:spPr>
        <p:txBody>
          <a:bodyPr wrap="square" lIns="0" tIns="0" rIns="0" bIns="0" rtlCol="0" anchor="t"/>
          <a:lstStyle/>
          <a:p>
            <a:pPr algn="l" indent="0" marL="0">
              <a:buNone/>
            </a:pPr>
            <a:r>
              <a:rPr lang="en-US" sz="2600" i="1" dirty="0">
                <a:solidFill>
                  <a:srgbClr val="F5F0E8"/>
                </a:solidFill>
                <a:latin typeface="Georgia" pitchFamily="34" charset="0"/>
                <a:ea typeface="Georgia" pitchFamily="34" charset="-122"/>
                <a:cs typeface="Georgia" pitchFamily="34" charset="-120"/>
              </a:rPr>
              <a:t>Planifiez vos repas de camp</a:t>
            </a:r>
            <a:endParaRPr lang="en-US" sz="2600" dirty="0"/>
          </a:p>
          <a:p>
            <a:pPr algn="l" indent="0" marL="0">
              <a:buNone/>
            </a:pPr>
            <a:r>
              <a:rPr lang="en-US" sz="2600" i="1" dirty="0">
                <a:solidFill>
                  <a:srgbClr val="F5F0E8"/>
                </a:solidFill>
                <a:latin typeface="Georgia" pitchFamily="34" charset="0"/>
                <a:ea typeface="Georgia" pitchFamily="34" charset="-122"/>
                <a:cs typeface="Georgia" pitchFamily="34" charset="-120"/>
              </a:rPr>
              <a:t>— simplement.</a:t>
            </a:r>
            <a:endParaRPr lang="en-US" sz="2600" dirty="0"/>
          </a:p>
        </p:txBody>
      </p:sp>
      <p:sp>
        <p:nvSpPr>
          <p:cNvPr id="7" name="Text 5"/>
          <p:cNvSpPr/>
          <p:nvPr/>
        </p:nvSpPr>
        <p:spPr>
          <a:xfrm>
            <a:off x="4663440" y="3108960"/>
            <a:ext cx="704088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Guide de démonstration pour chefs scouts</a:t>
            </a:r>
            <a:endParaRPr lang="en-US" sz="1600" dirty="0"/>
          </a:p>
        </p:txBody>
      </p:sp>
      <p:sp>
        <p:nvSpPr>
          <p:cNvPr id="8" name="Shape 6"/>
          <p:cNvSpPr/>
          <p:nvPr/>
        </p:nvSpPr>
        <p:spPr>
          <a:xfrm>
            <a:off x="4663440" y="3749040"/>
            <a:ext cx="3474720" cy="402336"/>
          </a:xfrm>
          <a:prstGeom prst="rect">
            <a:avLst/>
          </a:prstGeom>
          <a:solidFill>
            <a:srgbClr val="2D6A4F"/>
          </a:solidFill>
          <a:ln w="12700">
            <a:solidFill>
              <a:srgbClr val="2D6A4F"/>
            </a:solidFill>
            <a:prstDash val="solid"/>
          </a:ln>
        </p:spPr>
      </p:sp>
      <p:sp>
        <p:nvSpPr>
          <p:cNvPr id="9" name="Text 7"/>
          <p:cNvSpPr/>
          <p:nvPr/>
        </p:nvSpPr>
        <p:spPr>
          <a:xfrm>
            <a:off x="4663440" y="3749040"/>
            <a:ext cx="34747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Pour les chefs scouts</a:t>
            </a:r>
            <a:endParaRPr lang="en-US" sz="1300" dirty="0"/>
          </a:p>
        </p:txBody>
      </p:sp>
      <p:sp>
        <p:nvSpPr>
          <p:cNvPr id="10" name="Text 8"/>
          <p:cNvSpPr/>
          <p:nvPr/>
        </p:nvSpPr>
        <p:spPr>
          <a:xfrm>
            <a:off x="4663440" y="6309360"/>
            <a:ext cx="7040880" cy="347472"/>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Chef Khalil  ·  Menu 246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EF9"/>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E8621A"/>
          </a:solidFill>
          <a:ln w="12700">
            <a:solidFill>
              <a:srgbClr val="E8621A"/>
            </a:solidFill>
            <a:prstDash val="solid"/>
          </a:ln>
        </p:spPr>
      </p:sp>
      <p:sp>
        <p:nvSpPr>
          <p:cNvPr id="3" name="Text 1"/>
          <p:cNvSpPr/>
          <p:nvPr/>
        </p:nvSpPr>
        <p:spPr>
          <a:xfrm>
            <a:off x="457200" y="201168"/>
            <a:ext cx="11247120" cy="594360"/>
          </a:xfrm>
          <a:prstGeom prst="rect">
            <a:avLst/>
          </a:prstGeom>
          <a:noFill/>
          <a:ln/>
        </p:spPr>
        <p:txBody>
          <a:bodyPr wrap="square" lIns="0" tIns="0" rIns="0" bIns="0" rtlCol="0" anchor="ctr"/>
          <a:lstStyle/>
          <a:p>
            <a:pPr algn="l" indent="0" marL="0">
              <a:buNone/>
            </a:pPr>
            <a:r>
              <a:rPr lang="en-US" sz="3200" b="1" dirty="0">
                <a:solidFill>
                  <a:srgbClr val="1C1C1E"/>
                </a:solidFill>
                <a:latin typeface="Georgia" pitchFamily="34" charset="0"/>
                <a:ea typeface="Georgia" pitchFamily="34" charset="-122"/>
                <a:cs typeface="Georgia" pitchFamily="34" charset="-120"/>
              </a:rPr>
              <a:t>Avant Menu 246…</a:t>
            </a:r>
            <a:endParaRPr lang="en-US" sz="3200" dirty="0"/>
          </a:p>
        </p:txBody>
      </p:sp>
      <p:sp>
        <p:nvSpPr>
          <p:cNvPr id="4" name="Text 2"/>
          <p:cNvSpPr/>
          <p:nvPr/>
        </p:nvSpPr>
        <p:spPr>
          <a:xfrm>
            <a:off x="457200" y="777240"/>
            <a:ext cx="11247120" cy="347472"/>
          </a:xfrm>
          <a:prstGeom prst="rect">
            <a:avLst/>
          </a:prstGeom>
          <a:noFill/>
          <a:ln/>
        </p:spPr>
        <p:txBody>
          <a:bodyPr wrap="square" lIns="0" tIns="0" rIns="0" bIns="0" rtlCol="0" anchor="ctr"/>
          <a:lstStyle/>
          <a:p>
            <a:pPr algn="l" indent="0" marL="0">
              <a:buNone/>
            </a:pPr>
            <a:r>
              <a:rPr lang="en-US" sz="1500" dirty="0">
                <a:solidFill>
                  <a:srgbClr val="6B7280"/>
                </a:solidFill>
                <a:latin typeface="Calibri" pitchFamily="34" charset="0"/>
                <a:ea typeface="Calibri" pitchFamily="34" charset="-122"/>
                <a:cs typeface="Calibri" pitchFamily="34" charset="-120"/>
              </a:rPr>
              <a:t>On connaît tous ces situations</a:t>
            </a:r>
            <a:endParaRPr lang="en-US" sz="1500" dirty="0"/>
          </a:p>
        </p:txBody>
      </p:sp>
      <p:sp>
        <p:nvSpPr>
          <p:cNvPr id="5" name="Shape 3"/>
          <p:cNvSpPr/>
          <p:nvPr/>
        </p:nvSpPr>
        <p:spPr>
          <a:xfrm>
            <a:off x="457200" y="1353312"/>
            <a:ext cx="11247120" cy="987552"/>
          </a:xfrm>
          <a:prstGeom prst="rect">
            <a:avLst/>
          </a:prstGeom>
          <a:solidFill>
            <a:srgbClr val="F5F0E8"/>
          </a:solidFill>
          <a:ln w="12700">
            <a:solidFill>
              <a:srgbClr val="E5E0D5"/>
            </a:solidFill>
            <a:prstDash val="solid"/>
          </a:ln>
        </p:spPr>
      </p:sp>
      <p:sp>
        <p:nvSpPr>
          <p:cNvPr id="6" name="Text 4"/>
          <p:cNvSpPr/>
          <p:nvPr/>
        </p:nvSpPr>
        <p:spPr>
          <a:xfrm>
            <a:off x="640080" y="1481328"/>
            <a:ext cx="822960" cy="731520"/>
          </a:xfrm>
          <a:prstGeom prst="rect">
            <a:avLst/>
          </a:prstGeom>
          <a:noFill/>
          <a:ln/>
        </p:spPr>
        <p:txBody>
          <a:bodyPr wrap="square" lIns="0" tIns="0" rIns="0" bIns="0" rtlCol="0" anchor="ctr"/>
          <a:lstStyle/>
          <a:p>
            <a:pPr algn="ctr" indent="0" marL="0">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7" name="Text 5"/>
          <p:cNvSpPr/>
          <p:nvPr/>
        </p:nvSpPr>
        <p:spPr>
          <a:xfrm>
            <a:off x="1600200" y="1444752"/>
            <a:ext cx="9875520" cy="347472"/>
          </a:xfrm>
          <a:prstGeom prst="rect">
            <a:avLst/>
          </a:prstGeom>
          <a:noFill/>
          <a:ln/>
        </p:spPr>
        <p:txBody>
          <a:bodyPr wrap="square" lIns="0" tIns="0" rIns="0" bIns="0" rtlCol="0" anchor="ctr"/>
          <a:lstStyle/>
          <a:p>
            <a:pPr algn="l" indent="0" marL="0">
              <a:buNone/>
            </a:pPr>
            <a:r>
              <a:rPr lang="en-US" sz="1500" b="1" dirty="0">
                <a:solidFill>
                  <a:srgbClr val="1C1C1E"/>
                </a:solidFill>
                <a:latin typeface="Calibri" pitchFamily="34" charset="0"/>
                <a:ea typeface="Calibri" pitchFamily="34" charset="-122"/>
                <a:cs typeface="Calibri" pitchFamily="34" charset="-120"/>
              </a:rPr>
              <a:t>Tableaux Excel interminables</a:t>
            </a:r>
            <a:endParaRPr lang="en-US" sz="1500" dirty="0"/>
          </a:p>
        </p:txBody>
      </p:sp>
      <p:sp>
        <p:nvSpPr>
          <p:cNvPr id="8" name="Text 6"/>
          <p:cNvSpPr/>
          <p:nvPr/>
        </p:nvSpPr>
        <p:spPr>
          <a:xfrm>
            <a:off x="1600200" y="1810512"/>
            <a:ext cx="9875520" cy="320040"/>
          </a:xfrm>
          <a:prstGeom prst="rect">
            <a:avLst/>
          </a:prstGeom>
          <a:noFill/>
          <a:ln/>
        </p:spPr>
        <p:txBody>
          <a:bodyPr wrap="square" lIns="0" tIns="0" rIns="0" bIns="0"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Difficile à partager, toujours à refaire depuis le début</a:t>
            </a:r>
            <a:endParaRPr lang="en-US" sz="1300" dirty="0"/>
          </a:p>
        </p:txBody>
      </p:sp>
      <p:sp>
        <p:nvSpPr>
          <p:cNvPr id="9" name="Shape 7"/>
          <p:cNvSpPr/>
          <p:nvPr/>
        </p:nvSpPr>
        <p:spPr>
          <a:xfrm>
            <a:off x="457200" y="2560320"/>
            <a:ext cx="11247120" cy="987552"/>
          </a:xfrm>
          <a:prstGeom prst="rect">
            <a:avLst/>
          </a:prstGeom>
          <a:solidFill>
            <a:srgbClr val="F5F0E8"/>
          </a:solidFill>
          <a:ln w="12700">
            <a:solidFill>
              <a:srgbClr val="E5E0D5"/>
            </a:solidFill>
            <a:prstDash val="solid"/>
          </a:ln>
        </p:spPr>
      </p:sp>
      <p:sp>
        <p:nvSpPr>
          <p:cNvPr id="10" name="Text 8"/>
          <p:cNvSpPr/>
          <p:nvPr/>
        </p:nvSpPr>
        <p:spPr>
          <a:xfrm>
            <a:off x="640080" y="2688336"/>
            <a:ext cx="822960" cy="731520"/>
          </a:xfrm>
          <a:prstGeom prst="rect">
            <a:avLst/>
          </a:prstGeom>
          <a:noFill/>
          <a:ln/>
        </p:spPr>
        <p:txBody>
          <a:bodyPr wrap="square" lIns="0" tIns="0" rIns="0" bIns="0" rtlCol="0" anchor="ctr"/>
          <a:lstStyle/>
          <a:p>
            <a:pPr algn="ctr" indent="0" marL="0">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11" name="Text 9"/>
          <p:cNvSpPr/>
          <p:nvPr/>
        </p:nvSpPr>
        <p:spPr>
          <a:xfrm>
            <a:off x="1600200" y="2651760"/>
            <a:ext cx="9875520" cy="347472"/>
          </a:xfrm>
          <a:prstGeom prst="rect">
            <a:avLst/>
          </a:prstGeom>
          <a:noFill/>
          <a:ln/>
        </p:spPr>
        <p:txBody>
          <a:bodyPr wrap="square" lIns="0" tIns="0" rIns="0" bIns="0" rtlCol="0" anchor="ctr"/>
          <a:lstStyle/>
          <a:p>
            <a:pPr algn="l" indent="0" marL="0">
              <a:buNone/>
            </a:pPr>
            <a:r>
              <a:rPr lang="en-US" sz="1500" b="1" dirty="0">
                <a:solidFill>
                  <a:srgbClr val="1C1C1E"/>
                </a:solidFill>
                <a:latin typeface="Calibri" pitchFamily="34" charset="0"/>
                <a:ea typeface="Calibri" pitchFamily="34" charset="-122"/>
                <a:cs typeface="Calibri" pitchFamily="34" charset="-120"/>
              </a:rPr>
              <a:t>Listes d'épicerie manuelles</a:t>
            </a:r>
            <a:endParaRPr lang="en-US" sz="1500" dirty="0"/>
          </a:p>
        </p:txBody>
      </p:sp>
      <p:sp>
        <p:nvSpPr>
          <p:cNvPr id="12" name="Text 10"/>
          <p:cNvSpPr/>
          <p:nvPr/>
        </p:nvSpPr>
        <p:spPr>
          <a:xfrm>
            <a:off x="1600200" y="3017520"/>
            <a:ext cx="9875520" cy="320040"/>
          </a:xfrm>
          <a:prstGeom prst="rect">
            <a:avLst/>
          </a:prstGeom>
          <a:noFill/>
          <a:ln/>
        </p:spPr>
        <p:txBody>
          <a:bodyPr wrap="square" lIns="0" tIns="0" rIns="0" bIns="0"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Calculs à la main = erreurs et oublis garantis</a:t>
            </a:r>
            <a:endParaRPr lang="en-US" sz="1300" dirty="0"/>
          </a:p>
        </p:txBody>
      </p:sp>
      <p:sp>
        <p:nvSpPr>
          <p:cNvPr id="13" name="Shape 11"/>
          <p:cNvSpPr/>
          <p:nvPr/>
        </p:nvSpPr>
        <p:spPr>
          <a:xfrm>
            <a:off x="457200" y="3767328"/>
            <a:ext cx="11247120" cy="987552"/>
          </a:xfrm>
          <a:prstGeom prst="rect">
            <a:avLst/>
          </a:prstGeom>
          <a:solidFill>
            <a:srgbClr val="F5F0E8"/>
          </a:solidFill>
          <a:ln w="12700">
            <a:solidFill>
              <a:srgbClr val="E5E0D5"/>
            </a:solidFill>
            <a:prstDash val="solid"/>
          </a:ln>
        </p:spPr>
      </p:sp>
      <p:sp>
        <p:nvSpPr>
          <p:cNvPr id="14" name="Text 12"/>
          <p:cNvSpPr/>
          <p:nvPr/>
        </p:nvSpPr>
        <p:spPr>
          <a:xfrm>
            <a:off x="640080" y="3895344"/>
            <a:ext cx="822960" cy="731520"/>
          </a:xfrm>
          <a:prstGeom prst="rect">
            <a:avLst/>
          </a:prstGeom>
          <a:noFill/>
          <a:ln/>
        </p:spPr>
        <p:txBody>
          <a:bodyPr wrap="square" lIns="0" tIns="0" rIns="0" bIns="0" rtlCol="0" anchor="ctr"/>
          <a:lstStyle/>
          <a:p>
            <a:pPr algn="ctr" indent="0" marL="0">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15" name="Text 13"/>
          <p:cNvSpPr/>
          <p:nvPr/>
        </p:nvSpPr>
        <p:spPr>
          <a:xfrm>
            <a:off x="1600200" y="3858768"/>
            <a:ext cx="9875520" cy="347472"/>
          </a:xfrm>
          <a:prstGeom prst="rect">
            <a:avLst/>
          </a:prstGeom>
          <a:noFill/>
          <a:ln/>
        </p:spPr>
        <p:txBody>
          <a:bodyPr wrap="square" lIns="0" tIns="0" rIns="0" bIns="0" rtlCol="0" anchor="ctr"/>
          <a:lstStyle/>
          <a:p>
            <a:pPr algn="l" indent="0" marL="0">
              <a:buNone/>
            </a:pPr>
            <a:r>
              <a:rPr lang="en-US" sz="1500" b="1" dirty="0">
                <a:solidFill>
                  <a:srgbClr val="1C1C1E"/>
                </a:solidFill>
                <a:latin typeface="Calibri" pitchFamily="34" charset="0"/>
                <a:ea typeface="Calibri" pitchFamily="34" charset="-122"/>
                <a:cs typeface="Calibri" pitchFamily="34" charset="-120"/>
              </a:rPr>
              <a:t>Ingrédients oubliés au camp</a:t>
            </a:r>
            <a:endParaRPr lang="en-US" sz="1500" dirty="0"/>
          </a:p>
        </p:txBody>
      </p:sp>
      <p:sp>
        <p:nvSpPr>
          <p:cNvPr id="16" name="Text 14"/>
          <p:cNvSpPr/>
          <p:nvPr/>
        </p:nvSpPr>
        <p:spPr>
          <a:xfrm>
            <a:off x="1600200" y="4224528"/>
            <a:ext cx="9875520" cy="320040"/>
          </a:xfrm>
          <a:prstGeom prst="rect">
            <a:avLst/>
          </a:prstGeom>
          <a:noFill/>
          <a:ln/>
        </p:spPr>
        <p:txBody>
          <a:bodyPr wrap="square" lIns="0" tIns="0" rIns="0" bIns="0"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On arrive... et il manque un ingrédient clé</a:t>
            </a:r>
            <a:endParaRPr lang="en-US" sz="1300" dirty="0"/>
          </a:p>
        </p:txBody>
      </p:sp>
      <p:sp>
        <p:nvSpPr>
          <p:cNvPr id="17" name="Shape 15"/>
          <p:cNvSpPr/>
          <p:nvPr/>
        </p:nvSpPr>
        <p:spPr>
          <a:xfrm>
            <a:off x="457200" y="4974336"/>
            <a:ext cx="11247120" cy="987552"/>
          </a:xfrm>
          <a:prstGeom prst="rect">
            <a:avLst/>
          </a:prstGeom>
          <a:solidFill>
            <a:srgbClr val="F5F0E8"/>
          </a:solidFill>
          <a:ln w="12700">
            <a:solidFill>
              <a:srgbClr val="E5E0D5"/>
            </a:solidFill>
            <a:prstDash val="solid"/>
          </a:ln>
        </p:spPr>
      </p:sp>
      <p:sp>
        <p:nvSpPr>
          <p:cNvPr id="18" name="Text 16"/>
          <p:cNvSpPr/>
          <p:nvPr/>
        </p:nvSpPr>
        <p:spPr>
          <a:xfrm>
            <a:off x="640080" y="5102352"/>
            <a:ext cx="822960" cy="731520"/>
          </a:xfrm>
          <a:prstGeom prst="rect">
            <a:avLst/>
          </a:prstGeom>
          <a:noFill/>
          <a:ln/>
        </p:spPr>
        <p:txBody>
          <a:bodyPr wrap="square" lIns="0" tIns="0" rIns="0" bIns="0" rtlCol="0" anchor="ctr"/>
          <a:lstStyle/>
          <a:p>
            <a:pPr algn="ctr" indent="0" marL="0">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19" name="Text 17"/>
          <p:cNvSpPr/>
          <p:nvPr/>
        </p:nvSpPr>
        <p:spPr>
          <a:xfrm>
            <a:off x="1600200" y="5065776"/>
            <a:ext cx="9875520" cy="347472"/>
          </a:xfrm>
          <a:prstGeom prst="rect">
            <a:avLst/>
          </a:prstGeom>
          <a:noFill/>
          <a:ln/>
        </p:spPr>
        <p:txBody>
          <a:bodyPr wrap="square" lIns="0" tIns="0" rIns="0" bIns="0" rtlCol="0" anchor="ctr"/>
          <a:lstStyle/>
          <a:p>
            <a:pPr algn="l" indent="0" marL="0">
              <a:buNone/>
            </a:pPr>
            <a:r>
              <a:rPr lang="en-US" sz="1500" b="1" dirty="0">
                <a:solidFill>
                  <a:srgbClr val="1C1C1E"/>
                </a:solidFill>
                <a:latin typeface="Calibri" pitchFamily="34" charset="0"/>
                <a:ea typeface="Calibri" pitchFamily="34" charset="-122"/>
                <a:cs typeface="Calibri" pitchFamily="34" charset="-120"/>
              </a:rPr>
              <a:t>Mauvaise communication</a:t>
            </a:r>
            <a:endParaRPr lang="en-US" sz="1500" dirty="0"/>
          </a:p>
        </p:txBody>
      </p:sp>
      <p:sp>
        <p:nvSpPr>
          <p:cNvPr id="20" name="Text 18"/>
          <p:cNvSpPr/>
          <p:nvPr/>
        </p:nvSpPr>
        <p:spPr>
          <a:xfrm>
            <a:off x="1600200" y="5431536"/>
            <a:ext cx="9875520" cy="320040"/>
          </a:xfrm>
          <a:prstGeom prst="rect">
            <a:avLst/>
          </a:prstGeom>
          <a:noFill/>
          <a:ln/>
        </p:spPr>
        <p:txBody>
          <a:bodyPr wrap="square" lIns="0" tIns="0" rIns="0" bIns="0"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"T'as apporté quoi comme nourriture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EF9"/>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E8621A"/>
          </a:solidFill>
          <a:ln w="12700">
            <a:solidFill>
              <a:srgbClr val="E8621A"/>
            </a:solidFill>
            <a:prstDash val="solid"/>
          </a:ln>
        </p:spPr>
      </p:sp>
      <p:sp>
        <p:nvSpPr>
          <p:cNvPr id="3" name="Text 1"/>
          <p:cNvSpPr/>
          <p:nvPr/>
        </p:nvSpPr>
        <p:spPr>
          <a:xfrm>
            <a:off x="457200" y="201168"/>
            <a:ext cx="11247120" cy="594360"/>
          </a:xfrm>
          <a:prstGeom prst="rect">
            <a:avLst/>
          </a:prstGeom>
          <a:noFill/>
          <a:ln/>
        </p:spPr>
        <p:txBody>
          <a:bodyPr wrap="square" lIns="0" tIns="0" rIns="0" bIns="0" rtlCol="0" anchor="ctr"/>
          <a:lstStyle/>
          <a:p>
            <a:pPr algn="l" indent="0" marL="0">
              <a:buNone/>
            </a:pPr>
            <a:r>
              <a:rPr lang="en-US" sz="3200" b="1" dirty="0">
                <a:solidFill>
                  <a:srgbClr val="1C1C1E"/>
                </a:solidFill>
                <a:latin typeface="Georgia" pitchFamily="34" charset="0"/>
                <a:ea typeface="Georgia" pitchFamily="34" charset="-122"/>
                <a:cs typeface="Georgia" pitchFamily="34" charset="-120"/>
              </a:rPr>
              <a:t>En 3 étapes simples</a:t>
            </a:r>
            <a:endParaRPr lang="en-US" sz="3200" dirty="0"/>
          </a:p>
        </p:txBody>
      </p:sp>
      <p:sp>
        <p:nvSpPr>
          <p:cNvPr id="4" name="Text 2"/>
          <p:cNvSpPr/>
          <p:nvPr/>
        </p:nvSpPr>
        <p:spPr>
          <a:xfrm>
            <a:off x="457200" y="777240"/>
            <a:ext cx="11247120" cy="347472"/>
          </a:xfrm>
          <a:prstGeom prst="rect">
            <a:avLst/>
          </a:prstGeom>
          <a:noFill/>
          <a:ln/>
        </p:spPr>
        <p:txBody>
          <a:bodyPr wrap="square" lIns="0" tIns="0" rIns="0" bIns="0" rtlCol="0" anchor="ctr"/>
          <a:lstStyle/>
          <a:p>
            <a:pPr algn="l" indent="0" marL="0">
              <a:buNone/>
            </a:pPr>
            <a:r>
              <a:rPr lang="en-US" sz="1500" dirty="0">
                <a:solidFill>
                  <a:srgbClr val="6B7280"/>
                </a:solidFill>
                <a:latin typeface="Calibri" pitchFamily="34" charset="0"/>
                <a:ea typeface="Calibri" pitchFamily="34" charset="-122"/>
                <a:cs typeface="Calibri" pitchFamily="34" charset="-120"/>
              </a:rPr>
              <a:t>De zéro à la liste d'épicerie complète</a:t>
            </a:r>
            <a:endParaRPr lang="en-US" sz="1500" dirty="0"/>
          </a:p>
        </p:txBody>
      </p:sp>
      <p:sp>
        <p:nvSpPr>
          <p:cNvPr id="5" name="Shape 3"/>
          <p:cNvSpPr/>
          <p:nvPr/>
        </p:nvSpPr>
        <p:spPr>
          <a:xfrm>
            <a:off x="457200" y="1371600"/>
            <a:ext cx="3611880" cy="512064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457200" y="1371600"/>
            <a:ext cx="3611880" cy="73152"/>
          </a:xfrm>
          <a:prstGeom prst="rect">
            <a:avLst/>
          </a:prstGeom>
          <a:solidFill>
            <a:srgbClr val="E8621A"/>
          </a:solidFill>
          <a:ln w="12700">
            <a:solidFill>
              <a:srgbClr val="E8621A"/>
            </a:solidFill>
            <a:prstDash val="solid"/>
          </a:ln>
        </p:spPr>
      </p:sp>
      <p:sp>
        <p:nvSpPr>
          <p:cNvPr id="7" name="Text 5"/>
          <p:cNvSpPr/>
          <p:nvPr/>
        </p:nvSpPr>
        <p:spPr>
          <a:xfrm>
            <a:off x="621792" y="1499616"/>
            <a:ext cx="411480" cy="411480"/>
          </a:xfrm>
          <a:prstGeom prst="rect">
            <a:avLst/>
          </a:prstGeom>
          <a:noFill/>
          <a:ln/>
        </p:spPr>
        <p:txBody>
          <a:bodyPr wrap="square" lIns="0" tIns="0" rIns="0" bIns="0" rtlCol="0" anchor="ctr"/>
          <a:lstStyle/>
          <a:p>
            <a:pPr algn="ctr" indent="0" marL="0">
              <a:buNone/>
            </a:pPr>
            <a:r>
              <a:rPr lang="en-US" sz="2000" b="1" dirty="0">
                <a:solidFill>
                  <a:srgbClr val="E8621A"/>
                </a:solidFill>
                <a:latin typeface="Georgia" pitchFamily="34" charset="0"/>
                <a:ea typeface="Georgia" pitchFamily="34" charset="-122"/>
                <a:cs typeface="Georgia" pitchFamily="34" charset="-120"/>
              </a:rPr>
              <a:t>1</a:t>
            </a:r>
            <a:endParaRPr lang="en-US" sz="2000" dirty="0"/>
          </a:p>
        </p:txBody>
      </p:sp>
      <p:sp>
        <p:nvSpPr>
          <p:cNvPr id="8" name="Text 6"/>
          <p:cNvSpPr/>
          <p:nvPr/>
        </p:nvSpPr>
        <p:spPr>
          <a:xfrm>
            <a:off x="457200" y="1572768"/>
            <a:ext cx="3611880" cy="1005840"/>
          </a:xfrm>
          <a:prstGeom prst="rect">
            <a:avLst/>
          </a:prstGeom>
          <a:noFill/>
          <a:ln/>
        </p:spPr>
        <p:txBody>
          <a:bodyPr wrap="square" lIns="0" tIns="0" rIns="0" bIns="0" rtlCol="0" anchor="ctr"/>
          <a:lstStyle/>
          <a:p>
            <a:pPr algn="ctr" indent="0" marL="0">
              <a:buNone/>
            </a:pPr>
            <a:r>
              <a:rPr lang="en-US" sz="5200" dirty="0">
                <a:solidFill>
                  <a:srgbClr val="000000"/>
                </a:solidFill>
                <a:latin typeface="Calibri" pitchFamily="34" charset="0"/>
                <a:ea typeface="Calibri" pitchFamily="34" charset="-122"/>
                <a:cs typeface="Calibri" pitchFamily="34" charset="-120"/>
              </a:rPr>
              <a:t>⚙️</a:t>
            </a:r>
            <a:endParaRPr lang="en-US" sz="5200" dirty="0"/>
          </a:p>
        </p:txBody>
      </p:sp>
      <p:sp>
        <p:nvSpPr>
          <p:cNvPr id="9" name="Text 7"/>
          <p:cNvSpPr/>
          <p:nvPr/>
        </p:nvSpPr>
        <p:spPr>
          <a:xfrm>
            <a:off x="640080" y="2670048"/>
            <a:ext cx="3246120" cy="502920"/>
          </a:xfrm>
          <a:prstGeom prst="rect">
            <a:avLst/>
          </a:prstGeom>
          <a:noFill/>
          <a:ln/>
        </p:spPr>
        <p:txBody>
          <a:bodyPr wrap="square" lIns="0" tIns="0" rIns="0" bIns="0" rtlCol="0" anchor="ctr"/>
          <a:lstStyle/>
          <a:p>
            <a:pPr algn="ctr" indent="0" marL="0">
              <a:buNone/>
            </a:pPr>
            <a:r>
              <a:rPr lang="en-US" sz="2000" b="1" dirty="0">
                <a:solidFill>
                  <a:srgbClr val="1C1C1E"/>
                </a:solidFill>
                <a:latin typeface="Georgia" pitchFamily="34" charset="0"/>
                <a:ea typeface="Georgia" pitchFamily="34" charset="-122"/>
                <a:cs typeface="Georgia" pitchFamily="34" charset="-120"/>
              </a:rPr>
              <a:t>Configurer</a:t>
            </a:r>
            <a:endParaRPr lang="en-US" sz="2000" dirty="0"/>
          </a:p>
        </p:txBody>
      </p:sp>
      <p:sp>
        <p:nvSpPr>
          <p:cNvPr id="10" name="Text 8"/>
          <p:cNvSpPr/>
          <p:nvPr/>
        </p:nvSpPr>
        <p:spPr>
          <a:xfrm>
            <a:off x="640080" y="3200400"/>
            <a:ext cx="3246120" cy="685800"/>
          </a:xfrm>
          <a:prstGeom prst="rect">
            <a:avLst/>
          </a:prstGeom>
          <a:noFill/>
          <a:ln/>
        </p:spPr>
        <p:txBody>
          <a:bodyPr wrap="square" lIns="0" tIns="0" rIns="0" bIns="0"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Nom du camp, dates</a:t>
            </a:r>
            <a:endParaRPr lang="en-US" sz="1300" dirty="0"/>
          </a:p>
          <a:p>
            <a:pPr algn="ctr" indent="0" marL="0">
              <a:buNone/>
            </a:pPr>
            <a:r>
              <a:rPr lang="en-US" sz="1300" dirty="0">
                <a:solidFill>
                  <a:srgbClr val="6B7280"/>
                </a:solidFill>
                <a:latin typeface="Calibri" pitchFamily="34" charset="0"/>
                <a:ea typeface="Calibri" pitchFamily="34" charset="-122"/>
                <a:cs typeface="Calibri" pitchFamily="34" charset="-120"/>
              </a:rPr>
              <a:t>et nombre de participants</a:t>
            </a:r>
            <a:endParaRPr lang="en-US" sz="1300" dirty="0"/>
          </a:p>
        </p:txBody>
      </p:sp>
      <p:sp>
        <p:nvSpPr>
          <p:cNvPr id="11" name="Shape 9"/>
          <p:cNvSpPr/>
          <p:nvPr/>
        </p:nvSpPr>
        <p:spPr>
          <a:xfrm>
            <a:off x="640080" y="4023360"/>
            <a:ext cx="3246120" cy="2240280"/>
          </a:xfrm>
          <a:prstGeom prst="rect">
            <a:avLst/>
          </a:prstGeom>
          <a:solidFill>
            <a:srgbClr val="E5E0D5">
              <a:alpha val="60000"/>
            </a:srgbClr>
          </a:solidFill>
          <a:ln w="12700">
            <a:solidFill>
              <a:srgbClr val="6B7280"/>
            </a:solidFill>
            <a:prstDash val="dash"/>
          </a:ln>
        </p:spPr>
      </p:sp>
      <p:sp>
        <p:nvSpPr>
          <p:cNvPr id="12" name="Text 10"/>
          <p:cNvSpPr/>
          <p:nvPr/>
        </p:nvSpPr>
        <p:spPr>
          <a:xfrm>
            <a:off x="640080" y="4023360"/>
            <a:ext cx="3246120" cy="224028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Capture étape 1 ]</a:t>
            </a:r>
            <a:endParaRPr lang="en-US" sz="1200" dirty="0"/>
          </a:p>
        </p:txBody>
      </p:sp>
      <p:sp>
        <p:nvSpPr>
          <p:cNvPr id="13" name="Shape 11"/>
          <p:cNvSpPr/>
          <p:nvPr/>
        </p:nvSpPr>
        <p:spPr>
          <a:xfrm>
            <a:off x="4270248" y="1371600"/>
            <a:ext cx="3611880" cy="512064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14" name="Shape 12"/>
          <p:cNvSpPr/>
          <p:nvPr/>
        </p:nvSpPr>
        <p:spPr>
          <a:xfrm>
            <a:off x="4270248" y="1371600"/>
            <a:ext cx="3611880" cy="73152"/>
          </a:xfrm>
          <a:prstGeom prst="rect">
            <a:avLst/>
          </a:prstGeom>
          <a:solidFill>
            <a:srgbClr val="2D6A4F"/>
          </a:solidFill>
          <a:ln w="12700">
            <a:solidFill>
              <a:srgbClr val="2D6A4F"/>
            </a:solidFill>
            <a:prstDash val="solid"/>
          </a:ln>
        </p:spPr>
      </p:sp>
      <p:sp>
        <p:nvSpPr>
          <p:cNvPr id="15" name="Text 13"/>
          <p:cNvSpPr/>
          <p:nvPr/>
        </p:nvSpPr>
        <p:spPr>
          <a:xfrm>
            <a:off x="4434840" y="1499616"/>
            <a:ext cx="411480" cy="411480"/>
          </a:xfrm>
          <a:prstGeom prst="rect">
            <a:avLst/>
          </a:prstGeom>
          <a:noFill/>
          <a:ln/>
        </p:spPr>
        <p:txBody>
          <a:bodyPr wrap="square" lIns="0" tIns="0" rIns="0" bIns="0" rtlCol="0" anchor="ctr"/>
          <a:lstStyle/>
          <a:p>
            <a:pPr algn="ctr" indent="0" marL="0">
              <a:buNone/>
            </a:pPr>
            <a:r>
              <a:rPr lang="en-US" sz="2000" b="1" dirty="0">
                <a:solidFill>
                  <a:srgbClr val="2D6A4F"/>
                </a:solidFill>
                <a:latin typeface="Georgia" pitchFamily="34" charset="0"/>
                <a:ea typeface="Georgia" pitchFamily="34" charset="-122"/>
                <a:cs typeface="Georgia" pitchFamily="34" charset="-120"/>
              </a:rPr>
              <a:t>2</a:t>
            </a:r>
            <a:endParaRPr lang="en-US" sz="2000" dirty="0"/>
          </a:p>
        </p:txBody>
      </p:sp>
      <p:sp>
        <p:nvSpPr>
          <p:cNvPr id="16" name="Text 14"/>
          <p:cNvSpPr/>
          <p:nvPr/>
        </p:nvSpPr>
        <p:spPr>
          <a:xfrm>
            <a:off x="4270248" y="1572768"/>
            <a:ext cx="3611880" cy="1005840"/>
          </a:xfrm>
          <a:prstGeom prst="rect">
            <a:avLst/>
          </a:prstGeom>
          <a:noFill/>
          <a:ln/>
        </p:spPr>
        <p:txBody>
          <a:bodyPr wrap="square" lIns="0" tIns="0" rIns="0" bIns="0" rtlCol="0" anchor="ctr"/>
          <a:lstStyle/>
          <a:p>
            <a:pPr algn="ctr" indent="0" marL="0">
              <a:buNone/>
            </a:pPr>
            <a:r>
              <a:rPr lang="en-US" sz="5200" dirty="0">
                <a:solidFill>
                  <a:srgbClr val="000000"/>
                </a:solidFill>
                <a:latin typeface="Calibri" pitchFamily="34" charset="0"/>
                <a:ea typeface="Calibri" pitchFamily="34" charset="-122"/>
                <a:cs typeface="Calibri" pitchFamily="34" charset="-120"/>
              </a:rPr>
              <a:t>🍽️</a:t>
            </a:r>
            <a:endParaRPr lang="en-US" sz="5200" dirty="0"/>
          </a:p>
        </p:txBody>
      </p:sp>
      <p:sp>
        <p:nvSpPr>
          <p:cNvPr id="17" name="Text 15"/>
          <p:cNvSpPr/>
          <p:nvPr/>
        </p:nvSpPr>
        <p:spPr>
          <a:xfrm>
            <a:off x="4453128" y="2670048"/>
            <a:ext cx="3246120" cy="502920"/>
          </a:xfrm>
          <a:prstGeom prst="rect">
            <a:avLst/>
          </a:prstGeom>
          <a:noFill/>
          <a:ln/>
        </p:spPr>
        <p:txBody>
          <a:bodyPr wrap="square" lIns="0" tIns="0" rIns="0" bIns="0" rtlCol="0" anchor="ctr"/>
          <a:lstStyle/>
          <a:p>
            <a:pPr algn="ctr" indent="0" marL="0">
              <a:buNone/>
            </a:pPr>
            <a:r>
              <a:rPr lang="en-US" sz="2000" b="1" dirty="0">
                <a:solidFill>
                  <a:srgbClr val="1C1C1E"/>
                </a:solidFill>
                <a:latin typeface="Georgia" pitchFamily="34" charset="0"/>
                <a:ea typeface="Georgia" pitchFamily="34" charset="-122"/>
                <a:cs typeface="Georgia" pitchFamily="34" charset="-120"/>
              </a:rPr>
              <a:t>Planifier</a:t>
            </a:r>
            <a:endParaRPr lang="en-US" sz="2000" dirty="0"/>
          </a:p>
        </p:txBody>
      </p:sp>
      <p:sp>
        <p:nvSpPr>
          <p:cNvPr id="18" name="Text 16"/>
          <p:cNvSpPr/>
          <p:nvPr/>
        </p:nvSpPr>
        <p:spPr>
          <a:xfrm>
            <a:off x="4453128" y="3200400"/>
            <a:ext cx="3246120" cy="685800"/>
          </a:xfrm>
          <a:prstGeom prst="rect">
            <a:avLst/>
          </a:prstGeom>
          <a:noFill/>
          <a:ln/>
        </p:spPr>
        <p:txBody>
          <a:bodyPr wrap="square" lIns="0" tIns="0" rIns="0" bIns="0"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Choisir les recettes</a:t>
            </a:r>
            <a:endParaRPr lang="en-US" sz="1300" dirty="0"/>
          </a:p>
          <a:p>
            <a:pPr algn="ctr" indent="0" marL="0">
              <a:buNone/>
            </a:pPr>
            <a:r>
              <a:rPr lang="en-US" sz="1300" dirty="0">
                <a:solidFill>
                  <a:srgbClr val="6B7280"/>
                </a:solidFill>
                <a:latin typeface="Calibri" pitchFamily="34" charset="0"/>
                <a:ea typeface="Calibri" pitchFamily="34" charset="-122"/>
                <a:cs typeface="Calibri" pitchFamily="34" charset="-120"/>
              </a:rPr>
              <a:t>et les assigner à chaque repas</a:t>
            </a:r>
            <a:endParaRPr lang="en-US" sz="1300" dirty="0"/>
          </a:p>
        </p:txBody>
      </p:sp>
      <p:sp>
        <p:nvSpPr>
          <p:cNvPr id="19" name="Shape 17"/>
          <p:cNvSpPr/>
          <p:nvPr/>
        </p:nvSpPr>
        <p:spPr>
          <a:xfrm>
            <a:off x="4453128" y="4023360"/>
            <a:ext cx="3246120" cy="2240280"/>
          </a:xfrm>
          <a:prstGeom prst="rect">
            <a:avLst/>
          </a:prstGeom>
          <a:solidFill>
            <a:srgbClr val="E5E0D5">
              <a:alpha val="60000"/>
            </a:srgbClr>
          </a:solidFill>
          <a:ln w="12700">
            <a:solidFill>
              <a:srgbClr val="6B7280"/>
            </a:solidFill>
            <a:prstDash val="dash"/>
          </a:ln>
        </p:spPr>
      </p:sp>
      <p:sp>
        <p:nvSpPr>
          <p:cNvPr id="20" name="Text 18"/>
          <p:cNvSpPr/>
          <p:nvPr/>
        </p:nvSpPr>
        <p:spPr>
          <a:xfrm>
            <a:off x="4453128" y="4023360"/>
            <a:ext cx="3246120" cy="224028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Capture étape 2 ]</a:t>
            </a:r>
            <a:endParaRPr lang="en-US" sz="1200" dirty="0"/>
          </a:p>
        </p:txBody>
      </p:sp>
      <p:sp>
        <p:nvSpPr>
          <p:cNvPr id="21" name="Shape 19"/>
          <p:cNvSpPr/>
          <p:nvPr/>
        </p:nvSpPr>
        <p:spPr>
          <a:xfrm>
            <a:off x="8083296" y="1371600"/>
            <a:ext cx="3611880" cy="512064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22" name="Shape 20"/>
          <p:cNvSpPr/>
          <p:nvPr/>
        </p:nvSpPr>
        <p:spPr>
          <a:xfrm>
            <a:off x="8083296" y="1371600"/>
            <a:ext cx="3611880" cy="73152"/>
          </a:xfrm>
          <a:prstGeom prst="rect">
            <a:avLst/>
          </a:prstGeom>
          <a:solidFill>
            <a:srgbClr val="7C3AED"/>
          </a:solidFill>
          <a:ln w="12700">
            <a:solidFill>
              <a:srgbClr val="7C3AED"/>
            </a:solidFill>
            <a:prstDash val="solid"/>
          </a:ln>
        </p:spPr>
      </p:sp>
      <p:sp>
        <p:nvSpPr>
          <p:cNvPr id="23" name="Text 21"/>
          <p:cNvSpPr/>
          <p:nvPr/>
        </p:nvSpPr>
        <p:spPr>
          <a:xfrm>
            <a:off x="8247888" y="1499616"/>
            <a:ext cx="411480" cy="411480"/>
          </a:xfrm>
          <a:prstGeom prst="rect">
            <a:avLst/>
          </a:prstGeom>
          <a:noFill/>
          <a:ln/>
        </p:spPr>
        <p:txBody>
          <a:bodyPr wrap="square" lIns="0" tIns="0" rIns="0" bIns="0" rtlCol="0" anchor="ctr"/>
          <a:lstStyle/>
          <a:p>
            <a:pPr algn="ctr" indent="0" marL="0">
              <a:buNone/>
            </a:pPr>
            <a:r>
              <a:rPr lang="en-US" sz="2000" b="1" dirty="0">
                <a:solidFill>
                  <a:srgbClr val="7C3AED"/>
                </a:solidFill>
                <a:latin typeface="Georgia" pitchFamily="34" charset="0"/>
                <a:ea typeface="Georgia" pitchFamily="34" charset="-122"/>
                <a:cs typeface="Georgia" pitchFamily="34" charset="-120"/>
              </a:rPr>
              <a:t>3</a:t>
            </a:r>
            <a:endParaRPr lang="en-US" sz="2000" dirty="0"/>
          </a:p>
        </p:txBody>
      </p:sp>
      <p:sp>
        <p:nvSpPr>
          <p:cNvPr id="24" name="Text 22"/>
          <p:cNvSpPr/>
          <p:nvPr/>
        </p:nvSpPr>
        <p:spPr>
          <a:xfrm>
            <a:off x="8083296" y="1572768"/>
            <a:ext cx="3611880" cy="1005840"/>
          </a:xfrm>
          <a:prstGeom prst="rect">
            <a:avLst/>
          </a:prstGeom>
          <a:noFill/>
          <a:ln/>
        </p:spPr>
        <p:txBody>
          <a:bodyPr wrap="square" lIns="0" tIns="0" rIns="0" bIns="0" rtlCol="0" anchor="ctr"/>
          <a:lstStyle/>
          <a:p>
            <a:pPr algn="ctr" indent="0" marL="0">
              <a:buNone/>
            </a:pPr>
            <a:r>
              <a:rPr lang="en-US" sz="5200" dirty="0">
                <a:solidFill>
                  <a:srgbClr val="000000"/>
                </a:solidFill>
                <a:latin typeface="Calibri" pitchFamily="34" charset="0"/>
                <a:ea typeface="Calibri" pitchFamily="34" charset="-122"/>
                <a:cs typeface="Calibri" pitchFamily="34" charset="-120"/>
              </a:rPr>
              <a:t>📄</a:t>
            </a:r>
            <a:endParaRPr lang="en-US" sz="5200" dirty="0"/>
          </a:p>
        </p:txBody>
      </p:sp>
      <p:sp>
        <p:nvSpPr>
          <p:cNvPr id="25" name="Text 23"/>
          <p:cNvSpPr/>
          <p:nvPr/>
        </p:nvSpPr>
        <p:spPr>
          <a:xfrm>
            <a:off x="8266176" y="2670048"/>
            <a:ext cx="3246120" cy="502920"/>
          </a:xfrm>
          <a:prstGeom prst="rect">
            <a:avLst/>
          </a:prstGeom>
          <a:noFill/>
          <a:ln/>
        </p:spPr>
        <p:txBody>
          <a:bodyPr wrap="square" lIns="0" tIns="0" rIns="0" bIns="0" rtlCol="0" anchor="ctr"/>
          <a:lstStyle/>
          <a:p>
            <a:pPr algn="ctr" indent="0" marL="0">
              <a:buNone/>
            </a:pPr>
            <a:r>
              <a:rPr lang="en-US" sz="2000" b="1" dirty="0">
                <a:solidFill>
                  <a:srgbClr val="1C1C1E"/>
                </a:solidFill>
                <a:latin typeface="Georgia" pitchFamily="34" charset="0"/>
                <a:ea typeface="Georgia" pitchFamily="34" charset="-122"/>
                <a:cs typeface="Georgia" pitchFamily="34" charset="-120"/>
              </a:rPr>
              <a:t>Exporter</a:t>
            </a:r>
            <a:endParaRPr lang="en-US" sz="2000" dirty="0"/>
          </a:p>
        </p:txBody>
      </p:sp>
      <p:sp>
        <p:nvSpPr>
          <p:cNvPr id="26" name="Text 24"/>
          <p:cNvSpPr/>
          <p:nvPr/>
        </p:nvSpPr>
        <p:spPr>
          <a:xfrm>
            <a:off x="8266176" y="3200400"/>
            <a:ext cx="3246120" cy="685800"/>
          </a:xfrm>
          <a:prstGeom prst="rect">
            <a:avLst/>
          </a:prstGeom>
          <a:noFill/>
          <a:ln/>
        </p:spPr>
        <p:txBody>
          <a:bodyPr wrap="square" lIns="0" tIns="0" rIns="0" bIns="0"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Liste d'épicerie et menus</a:t>
            </a:r>
            <a:endParaRPr lang="en-US" sz="1300" dirty="0"/>
          </a:p>
          <a:p>
            <a:pPr algn="ctr" indent="0" marL="0">
              <a:buNone/>
            </a:pPr>
            <a:r>
              <a:rPr lang="en-US" sz="1300" dirty="0">
                <a:solidFill>
                  <a:srgbClr val="6B7280"/>
                </a:solidFill>
                <a:latin typeface="Calibri" pitchFamily="34" charset="0"/>
                <a:ea typeface="Calibri" pitchFamily="34" charset="-122"/>
                <a:cs typeface="Calibri" pitchFamily="34" charset="-120"/>
              </a:rPr>
              <a:t>générés automatiquement</a:t>
            </a:r>
            <a:endParaRPr lang="en-US" sz="1300" dirty="0"/>
          </a:p>
        </p:txBody>
      </p:sp>
      <p:sp>
        <p:nvSpPr>
          <p:cNvPr id="27" name="Shape 25"/>
          <p:cNvSpPr/>
          <p:nvPr/>
        </p:nvSpPr>
        <p:spPr>
          <a:xfrm>
            <a:off x="8266176" y="4023360"/>
            <a:ext cx="3246120" cy="2240280"/>
          </a:xfrm>
          <a:prstGeom prst="rect">
            <a:avLst/>
          </a:prstGeom>
          <a:solidFill>
            <a:srgbClr val="E5E0D5">
              <a:alpha val="60000"/>
            </a:srgbClr>
          </a:solidFill>
          <a:ln w="12700">
            <a:solidFill>
              <a:srgbClr val="6B7280"/>
            </a:solidFill>
            <a:prstDash val="dash"/>
          </a:ln>
        </p:spPr>
      </p:sp>
      <p:sp>
        <p:nvSpPr>
          <p:cNvPr id="28" name="Text 26"/>
          <p:cNvSpPr/>
          <p:nvPr/>
        </p:nvSpPr>
        <p:spPr>
          <a:xfrm>
            <a:off x="8266176" y="4023360"/>
            <a:ext cx="3246120" cy="224028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Capture étape 3 ]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EF9"/>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E8621A"/>
          </a:solidFill>
          <a:ln w="12700">
            <a:solidFill>
              <a:srgbClr val="E8621A"/>
            </a:solidFill>
            <a:prstDash val="solid"/>
          </a:ln>
        </p:spPr>
      </p:sp>
      <p:sp>
        <p:nvSpPr>
          <p:cNvPr id="3" name="Shape 1"/>
          <p:cNvSpPr/>
          <p:nvPr/>
        </p:nvSpPr>
        <p:spPr>
          <a:xfrm>
            <a:off x="457200" y="731520"/>
            <a:ext cx="2286000" cy="347472"/>
          </a:xfrm>
          <a:prstGeom prst="rect">
            <a:avLst/>
          </a:prstGeom>
          <a:solidFill>
            <a:srgbClr val="2D6A4F"/>
          </a:solidFill>
          <a:ln w="12700">
            <a:solidFill>
              <a:srgbClr val="2D6A4F"/>
            </a:solidFill>
            <a:prstDash val="solid"/>
          </a:ln>
        </p:spPr>
      </p:sp>
      <p:sp>
        <p:nvSpPr>
          <p:cNvPr id="4" name="Text 2"/>
          <p:cNvSpPr/>
          <p:nvPr/>
        </p:nvSpPr>
        <p:spPr>
          <a:xfrm>
            <a:off x="457200" y="731520"/>
            <a:ext cx="22860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DÉMO EN DIRECT</a:t>
            </a:r>
            <a:endParaRPr lang="en-US" sz="1100" dirty="0"/>
          </a:p>
        </p:txBody>
      </p:sp>
      <p:sp>
        <p:nvSpPr>
          <p:cNvPr id="5" name="Shape 3"/>
          <p:cNvSpPr/>
          <p:nvPr/>
        </p:nvSpPr>
        <p:spPr>
          <a:xfrm>
            <a:off x="2926080" y="749808"/>
            <a:ext cx="1828800" cy="329184"/>
          </a:xfrm>
          <a:prstGeom prst="rect">
            <a:avLst/>
          </a:prstGeom>
          <a:solidFill>
            <a:srgbClr val="E8621A"/>
          </a:solidFill>
          <a:ln w="12700">
            <a:solidFill>
              <a:srgbClr val="E8621A"/>
            </a:solidFill>
            <a:prstDash val="solid"/>
          </a:ln>
        </p:spPr>
      </p:sp>
      <p:sp>
        <p:nvSpPr>
          <p:cNvPr id="6" name="Text 4"/>
          <p:cNvSpPr/>
          <p:nvPr/>
        </p:nvSpPr>
        <p:spPr>
          <a:xfrm>
            <a:off x="2926080" y="749808"/>
            <a:ext cx="18288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 Configurer</a:t>
            </a:r>
            <a:endParaRPr lang="en-US" sz="1100" dirty="0"/>
          </a:p>
        </p:txBody>
      </p:sp>
      <p:sp>
        <p:nvSpPr>
          <p:cNvPr id="7" name="Shape 5"/>
          <p:cNvSpPr/>
          <p:nvPr/>
        </p:nvSpPr>
        <p:spPr>
          <a:xfrm>
            <a:off x="4892040" y="749808"/>
            <a:ext cx="1828800" cy="329184"/>
          </a:xfrm>
          <a:prstGeom prst="rect">
            <a:avLst/>
          </a:prstGeom>
          <a:solidFill>
            <a:srgbClr val="E5E0D5"/>
          </a:solidFill>
          <a:ln w="12700">
            <a:solidFill>
              <a:srgbClr val="E5E0D5"/>
            </a:solidFill>
            <a:prstDash val="solid"/>
          </a:ln>
        </p:spPr>
      </p:sp>
      <p:sp>
        <p:nvSpPr>
          <p:cNvPr id="8" name="Text 6"/>
          <p:cNvSpPr/>
          <p:nvPr/>
        </p:nvSpPr>
        <p:spPr>
          <a:xfrm>
            <a:off x="4892040" y="749808"/>
            <a:ext cx="182880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2 · Planifier</a:t>
            </a:r>
            <a:endParaRPr lang="en-US" sz="1100" dirty="0"/>
          </a:p>
        </p:txBody>
      </p:sp>
      <p:sp>
        <p:nvSpPr>
          <p:cNvPr id="9" name="Shape 7"/>
          <p:cNvSpPr/>
          <p:nvPr/>
        </p:nvSpPr>
        <p:spPr>
          <a:xfrm>
            <a:off x="6858000" y="749808"/>
            <a:ext cx="1828800" cy="329184"/>
          </a:xfrm>
          <a:prstGeom prst="rect">
            <a:avLst/>
          </a:prstGeom>
          <a:solidFill>
            <a:srgbClr val="E5E0D5"/>
          </a:solidFill>
          <a:ln w="12700">
            <a:solidFill>
              <a:srgbClr val="E5E0D5"/>
            </a:solidFill>
            <a:prstDash val="solid"/>
          </a:ln>
        </p:spPr>
      </p:sp>
      <p:sp>
        <p:nvSpPr>
          <p:cNvPr id="10" name="Text 8"/>
          <p:cNvSpPr/>
          <p:nvPr/>
        </p:nvSpPr>
        <p:spPr>
          <a:xfrm>
            <a:off x="6858000" y="749808"/>
            <a:ext cx="182880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3 · Exporter</a:t>
            </a:r>
            <a:endParaRPr lang="en-US" sz="1100" dirty="0"/>
          </a:p>
        </p:txBody>
      </p:sp>
      <p:sp>
        <p:nvSpPr>
          <p:cNvPr id="11" name="Text 9"/>
          <p:cNvSpPr/>
          <p:nvPr/>
        </p:nvSpPr>
        <p:spPr>
          <a:xfrm>
            <a:off x="457200" y="1261872"/>
            <a:ext cx="11247120" cy="530352"/>
          </a:xfrm>
          <a:prstGeom prst="rect">
            <a:avLst/>
          </a:prstGeom>
          <a:noFill/>
          <a:ln/>
        </p:spPr>
        <p:txBody>
          <a:bodyPr wrap="square" lIns="0" tIns="0" rIns="0" bIns="0" rtlCol="0" anchor="ctr"/>
          <a:lstStyle/>
          <a:p>
            <a:pPr algn="l" indent="0" marL="0">
              <a:buNone/>
            </a:pPr>
            <a:r>
              <a:rPr lang="en-US" sz="2800" b="1" dirty="0">
                <a:solidFill>
                  <a:srgbClr val="1C1C1E"/>
                </a:solidFill>
                <a:latin typeface="Georgia" pitchFamily="34" charset="0"/>
                <a:ea typeface="Georgia" pitchFamily="34" charset="-122"/>
                <a:cs typeface="Georgia" pitchFamily="34" charset="-120"/>
              </a:rPr>
              <a:t>Étape 1 — Configurer votre camp</a:t>
            </a:r>
            <a:endParaRPr lang="en-US" sz="2800" dirty="0"/>
          </a:p>
        </p:txBody>
      </p:sp>
      <p:sp>
        <p:nvSpPr>
          <p:cNvPr id="12" name="Shape 10"/>
          <p:cNvSpPr/>
          <p:nvPr/>
        </p:nvSpPr>
        <p:spPr>
          <a:xfrm>
            <a:off x="457200" y="1993392"/>
            <a:ext cx="5486400" cy="768096"/>
          </a:xfrm>
          <a:prstGeom prst="rect">
            <a:avLst/>
          </a:prstGeom>
          <a:solidFill>
            <a:srgbClr val="F5F0E8"/>
          </a:solidFill>
          <a:ln w="12700">
            <a:solidFill>
              <a:srgbClr val="E5E0D5"/>
            </a:solidFill>
            <a:prstDash val="solid"/>
          </a:ln>
        </p:spPr>
      </p:sp>
      <p:sp>
        <p:nvSpPr>
          <p:cNvPr id="13" name="Text 11"/>
          <p:cNvSpPr/>
          <p:nvPr/>
        </p:nvSpPr>
        <p:spPr>
          <a:xfrm>
            <a:off x="594360" y="2103120"/>
            <a:ext cx="594360" cy="548640"/>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4" name="Text 12"/>
          <p:cNvSpPr/>
          <p:nvPr/>
        </p:nvSpPr>
        <p:spPr>
          <a:xfrm>
            <a:off x="1325880" y="2066544"/>
            <a:ext cx="4434840" cy="329184"/>
          </a:xfrm>
          <a:prstGeom prst="rect">
            <a:avLst/>
          </a:prstGeom>
          <a:noFill/>
          <a:ln/>
        </p:spPr>
        <p:txBody>
          <a:bodyPr wrap="square" lIns="0" tIns="0" rIns="0" bIns="0" rtlCol="0" anchor="ctr"/>
          <a:lstStyle/>
          <a:p>
            <a:pPr algn="l" indent="0" marL="0">
              <a:buNone/>
            </a:pPr>
            <a:r>
              <a:rPr lang="en-US" sz="1400" b="1" dirty="0">
                <a:solidFill>
                  <a:srgbClr val="1C1C1E"/>
                </a:solidFill>
                <a:latin typeface="Calibri" pitchFamily="34" charset="0"/>
                <a:ea typeface="Calibri" pitchFamily="34" charset="-122"/>
                <a:cs typeface="Calibri" pitchFamily="34" charset="-120"/>
              </a:rPr>
              <a:t>Nom du camp</a:t>
            </a:r>
            <a:endParaRPr lang="en-US" sz="1400" dirty="0"/>
          </a:p>
        </p:txBody>
      </p:sp>
      <p:sp>
        <p:nvSpPr>
          <p:cNvPr id="15" name="Text 13"/>
          <p:cNvSpPr/>
          <p:nvPr/>
        </p:nvSpPr>
        <p:spPr>
          <a:xfrm>
            <a:off x="1325880" y="2414016"/>
            <a:ext cx="4434840" cy="256032"/>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Ex : Camp Été 2025 — facultatif</a:t>
            </a:r>
            <a:endParaRPr lang="en-US" sz="1200" dirty="0"/>
          </a:p>
        </p:txBody>
      </p:sp>
      <p:sp>
        <p:nvSpPr>
          <p:cNvPr id="16" name="Shape 14"/>
          <p:cNvSpPr/>
          <p:nvPr/>
        </p:nvSpPr>
        <p:spPr>
          <a:xfrm>
            <a:off x="457200" y="2907792"/>
            <a:ext cx="5486400" cy="768096"/>
          </a:xfrm>
          <a:prstGeom prst="rect">
            <a:avLst/>
          </a:prstGeom>
          <a:solidFill>
            <a:srgbClr val="F5F0E8"/>
          </a:solidFill>
          <a:ln w="12700">
            <a:solidFill>
              <a:srgbClr val="E5E0D5"/>
            </a:solidFill>
            <a:prstDash val="solid"/>
          </a:ln>
        </p:spPr>
      </p:sp>
      <p:sp>
        <p:nvSpPr>
          <p:cNvPr id="17" name="Text 15"/>
          <p:cNvSpPr/>
          <p:nvPr/>
        </p:nvSpPr>
        <p:spPr>
          <a:xfrm>
            <a:off x="594360" y="3017520"/>
            <a:ext cx="594360" cy="548640"/>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8" name="Text 16"/>
          <p:cNvSpPr/>
          <p:nvPr/>
        </p:nvSpPr>
        <p:spPr>
          <a:xfrm>
            <a:off x="1325880" y="2980944"/>
            <a:ext cx="4434840" cy="329184"/>
          </a:xfrm>
          <a:prstGeom prst="rect">
            <a:avLst/>
          </a:prstGeom>
          <a:noFill/>
          <a:ln/>
        </p:spPr>
        <p:txBody>
          <a:bodyPr wrap="square" lIns="0" tIns="0" rIns="0" bIns="0" rtlCol="0" anchor="ctr"/>
          <a:lstStyle/>
          <a:p>
            <a:pPr algn="l" indent="0" marL="0">
              <a:buNone/>
            </a:pPr>
            <a:r>
              <a:rPr lang="en-US" sz="1400" b="1" dirty="0">
                <a:solidFill>
                  <a:srgbClr val="1C1C1E"/>
                </a:solidFill>
                <a:latin typeface="Calibri" pitchFamily="34" charset="0"/>
                <a:ea typeface="Calibri" pitchFamily="34" charset="-122"/>
                <a:cs typeface="Calibri" pitchFamily="34" charset="-120"/>
              </a:rPr>
              <a:t>Dates de début / fin</a:t>
            </a:r>
            <a:endParaRPr lang="en-US" sz="1400" dirty="0"/>
          </a:p>
        </p:txBody>
      </p:sp>
      <p:sp>
        <p:nvSpPr>
          <p:cNvPr id="19" name="Text 17"/>
          <p:cNvSpPr/>
          <p:nvPr/>
        </p:nvSpPr>
        <p:spPr>
          <a:xfrm>
            <a:off x="1325880" y="3328416"/>
            <a:ext cx="4434840" cy="256032"/>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Le nombre de jours est calculé automatiquement</a:t>
            </a:r>
            <a:endParaRPr lang="en-US" sz="1200" dirty="0"/>
          </a:p>
        </p:txBody>
      </p:sp>
      <p:sp>
        <p:nvSpPr>
          <p:cNvPr id="20" name="Shape 18"/>
          <p:cNvSpPr/>
          <p:nvPr/>
        </p:nvSpPr>
        <p:spPr>
          <a:xfrm>
            <a:off x="457200" y="3822192"/>
            <a:ext cx="5486400" cy="768096"/>
          </a:xfrm>
          <a:prstGeom prst="rect">
            <a:avLst/>
          </a:prstGeom>
          <a:solidFill>
            <a:srgbClr val="F5F0E8"/>
          </a:solidFill>
          <a:ln w="12700">
            <a:solidFill>
              <a:srgbClr val="E5E0D5"/>
            </a:solidFill>
            <a:prstDash val="solid"/>
          </a:ln>
        </p:spPr>
      </p:sp>
      <p:sp>
        <p:nvSpPr>
          <p:cNvPr id="21" name="Text 19"/>
          <p:cNvSpPr/>
          <p:nvPr/>
        </p:nvSpPr>
        <p:spPr>
          <a:xfrm>
            <a:off x="594360" y="3931920"/>
            <a:ext cx="594360" cy="548640"/>
          </a:xfrm>
          <a:prstGeom prst="rect">
            <a:avLst/>
          </a:prstGeom>
          <a:noFill/>
          <a:ln/>
        </p:spPr>
        <p:txBody>
          <a:bodyPr wrap="square" lIns="0" tIns="0" rIns="0" bIns="0"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2" name="Text 20"/>
          <p:cNvSpPr/>
          <p:nvPr/>
        </p:nvSpPr>
        <p:spPr>
          <a:xfrm>
            <a:off x="1325880" y="3895344"/>
            <a:ext cx="4434840" cy="329184"/>
          </a:xfrm>
          <a:prstGeom prst="rect">
            <a:avLst/>
          </a:prstGeom>
          <a:noFill/>
          <a:ln/>
        </p:spPr>
        <p:txBody>
          <a:bodyPr wrap="square" lIns="0" tIns="0" rIns="0" bIns="0" rtlCol="0" anchor="ctr"/>
          <a:lstStyle/>
          <a:p>
            <a:pPr algn="l" indent="0" marL="0">
              <a:buNone/>
            </a:pPr>
            <a:r>
              <a:rPr lang="en-US" sz="1400" b="1" dirty="0">
                <a:solidFill>
                  <a:srgbClr val="1C1C1E"/>
                </a:solidFill>
                <a:latin typeface="Calibri" pitchFamily="34" charset="0"/>
                <a:ea typeface="Calibri" pitchFamily="34" charset="-122"/>
                <a:cs typeface="Calibri" pitchFamily="34" charset="-120"/>
              </a:rPr>
              <a:t>Participants</a:t>
            </a:r>
            <a:endParaRPr lang="en-US" sz="1400" dirty="0"/>
          </a:p>
        </p:txBody>
      </p:sp>
      <p:sp>
        <p:nvSpPr>
          <p:cNvPr id="23" name="Text 21"/>
          <p:cNvSpPr/>
          <p:nvPr/>
        </p:nvSpPr>
        <p:spPr>
          <a:xfrm>
            <a:off x="1325880" y="4242816"/>
            <a:ext cx="4434840" cy="256032"/>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Les quantités s'adaptent à ce chiffre</a:t>
            </a:r>
            <a:endParaRPr lang="en-US" sz="1200" dirty="0"/>
          </a:p>
        </p:txBody>
      </p:sp>
      <p:sp>
        <p:nvSpPr>
          <p:cNvPr id="24" name="Shape 22"/>
          <p:cNvSpPr/>
          <p:nvPr/>
        </p:nvSpPr>
        <p:spPr>
          <a:xfrm>
            <a:off x="457200" y="4919472"/>
            <a:ext cx="5486400" cy="685800"/>
          </a:xfrm>
          <a:prstGeom prst="rect">
            <a:avLst/>
          </a:prstGeom>
          <a:solidFill>
            <a:srgbClr val="D1EAD8"/>
          </a:solidFill>
          <a:ln w="12700">
            <a:solidFill>
              <a:srgbClr val="E5E0D5"/>
            </a:solidFill>
            <a:prstDash val="solid"/>
          </a:ln>
        </p:spPr>
      </p:sp>
      <p:sp>
        <p:nvSpPr>
          <p:cNvPr id="25" name="Text 23"/>
          <p:cNvSpPr/>
          <p:nvPr/>
        </p:nvSpPr>
        <p:spPr>
          <a:xfrm>
            <a:off x="640080" y="4983480"/>
            <a:ext cx="5120640" cy="566928"/>
          </a:xfrm>
          <a:prstGeom prst="rect">
            <a:avLst/>
          </a:prstGeom>
          <a:noFill/>
          <a:ln/>
        </p:spPr>
        <p:txBody>
          <a:bodyPr wrap="square" lIns="0" tIns="0" rIns="0" bIns="0" rtlCol="0" anchor="ctr"/>
          <a:lstStyle/>
          <a:p>
            <a:pPr algn="l" indent="0" marL="0">
              <a:buNone/>
            </a:pPr>
            <a:r>
              <a:rPr lang="en-US" sz="1200" dirty="0">
                <a:solidFill>
                  <a:srgbClr val="2D6A4F"/>
                </a:solidFill>
                <a:latin typeface="Calibri" pitchFamily="34" charset="0"/>
                <a:ea typeface="Calibri" pitchFamily="34" charset="-122"/>
                <a:cs typeface="Calibri" pitchFamily="34" charset="-120"/>
              </a:rPr>
              <a:t>💡  Conseil : Entrez d'abord les dates — l'app calcule le nombre de jours automatiquement.</a:t>
            </a:r>
            <a:endParaRPr lang="en-US" sz="1200" dirty="0"/>
          </a:p>
        </p:txBody>
      </p:sp>
      <p:sp>
        <p:nvSpPr>
          <p:cNvPr id="26" name="Shape 24"/>
          <p:cNvSpPr/>
          <p:nvPr/>
        </p:nvSpPr>
        <p:spPr>
          <a:xfrm>
            <a:off x="6217920" y="1901952"/>
            <a:ext cx="5486400" cy="3822192"/>
          </a:xfrm>
          <a:prstGeom prst="rect">
            <a:avLst/>
          </a:prstGeom>
          <a:solidFill>
            <a:srgbClr val="E5E0D5">
              <a:alpha val="60000"/>
            </a:srgbClr>
          </a:solidFill>
          <a:ln w="12700">
            <a:solidFill>
              <a:srgbClr val="6B7280"/>
            </a:solidFill>
            <a:prstDash val="dash"/>
          </a:ln>
        </p:spPr>
      </p:sp>
      <p:sp>
        <p:nvSpPr>
          <p:cNvPr id="27" name="Text 25"/>
          <p:cNvSpPr/>
          <p:nvPr/>
        </p:nvSpPr>
        <p:spPr>
          <a:xfrm>
            <a:off x="6217920" y="1901952"/>
            <a:ext cx="5486400" cy="3822192"/>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Capture : écran de configuration ]</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EF9"/>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D6A4F"/>
          </a:solidFill>
          <a:ln w="12700">
            <a:solidFill>
              <a:srgbClr val="2D6A4F"/>
            </a:solidFill>
            <a:prstDash val="solid"/>
          </a:ln>
        </p:spPr>
      </p:sp>
      <p:sp>
        <p:nvSpPr>
          <p:cNvPr id="3" name="Shape 1"/>
          <p:cNvSpPr/>
          <p:nvPr/>
        </p:nvSpPr>
        <p:spPr>
          <a:xfrm>
            <a:off x="457200" y="731520"/>
            <a:ext cx="2286000" cy="347472"/>
          </a:xfrm>
          <a:prstGeom prst="rect">
            <a:avLst/>
          </a:prstGeom>
          <a:solidFill>
            <a:srgbClr val="2D6A4F"/>
          </a:solidFill>
          <a:ln w="12700">
            <a:solidFill>
              <a:srgbClr val="2D6A4F"/>
            </a:solidFill>
            <a:prstDash val="solid"/>
          </a:ln>
        </p:spPr>
      </p:sp>
      <p:sp>
        <p:nvSpPr>
          <p:cNvPr id="4" name="Text 2"/>
          <p:cNvSpPr/>
          <p:nvPr/>
        </p:nvSpPr>
        <p:spPr>
          <a:xfrm>
            <a:off x="457200" y="731520"/>
            <a:ext cx="22860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DÉMO EN DIRECT</a:t>
            </a:r>
            <a:endParaRPr lang="en-US" sz="1100" dirty="0"/>
          </a:p>
        </p:txBody>
      </p:sp>
      <p:sp>
        <p:nvSpPr>
          <p:cNvPr id="5" name="Shape 3"/>
          <p:cNvSpPr/>
          <p:nvPr/>
        </p:nvSpPr>
        <p:spPr>
          <a:xfrm>
            <a:off x="2926080" y="749808"/>
            <a:ext cx="1828800" cy="329184"/>
          </a:xfrm>
          <a:prstGeom prst="rect">
            <a:avLst/>
          </a:prstGeom>
          <a:solidFill>
            <a:srgbClr val="E5E0D5"/>
          </a:solidFill>
          <a:ln w="12700">
            <a:solidFill>
              <a:srgbClr val="E5E0D5"/>
            </a:solidFill>
            <a:prstDash val="solid"/>
          </a:ln>
        </p:spPr>
      </p:sp>
      <p:sp>
        <p:nvSpPr>
          <p:cNvPr id="6" name="Text 4"/>
          <p:cNvSpPr/>
          <p:nvPr/>
        </p:nvSpPr>
        <p:spPr>
          <a:xfrm>
            <a:off x="2926080" y="749808"/>
            <a:ext cx="182880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1 · Configurer</a:t>
            </a:r>
            <a:endParaRPr lang="en-US" sz="1100" dirty="0"/>
          </a:p>
        </p:txBody>
      </p:sp>
      <p:sp>
        <p:nvSpPr>
          <p:cNvPr id="7" name="Shape 5"/>
          <p:cNvSpPr/>
          <p:nvPr/>
        </p:nvSpPr>
        <p:spPr>
          <a:xfrm>
            <a:off x="4892040" y="749808"/>
            <a:ext cx="1828800" cy="329184"/>
          </a:xfrm>
          <a:prstGeom prst="rect">
            <a:avLst/>
          </a:prstGeom>
          <a:solidFill>
            <a:srgbClr val="E8621A"/>
          </a:solidFill>
          <a:ln w="12700">
            <a:solidFill>
              <a:srgbClr val="E8621A"/>
            </a:solidFill>
            <a:prstDash val="solid"/>
          </a:ln>
        </p:spPr>
      </p:sp>
      <p:sp>
        <p:nvSpPr>
          <p:cNvPr id="8" name="Text 6"/>
          <p:cNvSpPr/>
          <p:nvPr/>
        </p:nvSpPr>
        <p:spPr>
          <a:xfrm>
            <a:off x="4892040" y="749808"/>
            <a:ext cx="18288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 Planifier</a:t>
            </a:r>
            <a:endParaRPr lang="en-US" sz="1100" dirty="0"/>
          </a:p>
        </p:txBody>
      </p:sp>
      <p:sp>
        <p:nvSpPr>
          <p:cNvPr id="9" name="Shape 7"/>
          <p:cNvSpPr/>
          <p:nvPr/>
        </p:nvSpPr>
        <p:spPr>
          <a:xfrm>
            <a:off x="6858000" y="749808"/>
            <a:ext cx="1828800" cy="329184"/>
          </a:xfrm>
          <a:prstGeom prst="rect">
            <a:avLst/>
          </a:prstGeom>
          <a:solidFill>
            <a:srgbClr val="E5E0D5"/>
          </a:solidFill>
          <a:ln w="12700">
            <a:solidFill>
              <a:srgbClr val="E5E0D5"/>
            </a:solidFill>
            <a:prstDash val="solid"/>
          </a:ln>
        </p:spPr>
      </p:sp>
      <p:sp>
        <p:nvSpPr>
          <p:cNvPr id="10" name="Text 8"/>
          <p:cNvSpPr/>
          <p:nvPr/>
        </p:nvSpPr>
        <p:spPr>
          <a:xfrm>
            <a:off x="6858000" y="749808"/>
            <a:ext cx="182880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3 · Exporter</a:t>
            </a:r>
            <a:endParaRPr lang="en-US" sz="1100" dirty="0"/>
          </a:p>
        </p:txBody>
      </p:sp>
      <p:sp>
        <p:nvSpPr>
          <p:cNvPr id="11" name="Text 9"/>
          <p:cNvSpPr/>
          <p:nvPr/>
        </p:nvSpPr>
        <p:spPr>
          <a:xfrm>
            <a:off x="457200" y="1261872"/>
            <a:ext cx="11247120" cy="530352"/>
          </a:xfrm>
          <a:prstGeom prst="rect">
            <a:avLst/>
          </a:prstGeom>
          <a:noFill/>
          <a:ln/>
        </p:spPr>
        <p:txBody>
          <a:bodyPr wrap="square" lIns="0" tIns="0" rIns="0" bIns="0" rtlCol="0" anchor="ctr"/>
          <a:lstStyle/>
          <a:p>
            <a:pPr algn="l" indent="0" marL="0">
              <a:buNone/>
            </a:pPr>
            <a:r>
              <a:rPr lang="en-US" sz="2800" b="1" dirty="0">
                <a:solidFill>
                  <a:srgbClr val="1C1C1E"/>
                </a:solidFill>
                <a:latin typeface="Georgia" pitchFamily="34" charset="0"/>
                <a:ea typeface="Georgia" pitchFamily="34" charset="-122"/>
                <a:cs typeface="Georgia" pitchFamily="34" charset="-120"/>
              </a:rPr>
              <a:t>Étape 2 — Planifier les repas</a:t>
            </a:r>
            <a:endParaRPr lang="en-US" sz="2800" dirty="0"/>
          </a:p>
        </p:txBody>
      </p:sp>
      <p:sp>
        <p:nvSpPr>
          <p:cNvPr id="12" name="Shape 10"/>
          <p:cNvSpPr/>
          <p:nvPr/>
        </p:nvSpPr>
        <p:spPr>
          <a:xfrm>
            <a:off x="457200" y="2084832"/>
            <a:ext cx="402336" cy="402336"/>
          </a:xfrm>
          <a:prstGeom prst="ellipse">
            <a:avLst/>
          </a:prstGeom>
          <a:solidFill>
            <a:srgbClr val="E8621A"/>
          </a:solidFill>
          <a:ln w="12700">
            <a:solidFill>
              <a:srgbClr val="E8621A"/>
            </a:solidFill>
            <a:prstDash val="solid"/>
          </a:ln>
        </p:spPr>
      </p:sp>
      <p:sp>
        <p:nvSpPr>
          <p:cNvPr id="13" name="Text 11"/>
          <p:cNvSpPr/>
          <p:nvPr/>
        </p:nvSpPr>
        <p:spPr>
          <a:xfrm>
            <a:off x="457200" y="2084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2"/>
          <p:cNvSpPr/>
          <p:nvPr/>
        </p:nvSpPr>
        <p:spPr>
          <a:xfrm>
            <a:off x="1005840" y="1993392"/>
            <a:ext cx="5486400" cy="585216"/>
          </a:xfrm>
          <a:prstGeom prst="rect">
            <a:avLst/>
          </a:prstGeom>
          <a:noFill/>
          <a:ln/>
        </p:spPr>
        <p:txBody>
          <a:bodyPr wrap="square" lIns="0" tIns="0" rIns="0" bIns="0" rtlCol="0" anchor="ctr"/>
          <a:lstStyle/>
          <a:p>
            <a:pPr algn="l" indent="0" marL="0">
              <a:buNone/>
            </a:pPr>
            <a:r>
              <a:rPr lang="en-US" sz="1300" dirty="0">
                <a:solidFill>
                  <a:srgbClr val="1C1C1E"/>
                </a:solidFill>
                <a:latin typeface="Calibri" pitchFamily="34" charset="0"/>
                <a:ea typeface="Calibri" pitchFamily="34" charset="-122"/>
                <a:cs typeface="Calibri" pitchFamily="34" charset="-120"/>
              </a:rPr>
              <a:t>Cherchez une recette dans la barre de recherche</a:t>
            </a:r>
            <a:endParaRPr lang="en-US" sz="1300" dirty="0"/>
          </a:p>
        </p:txBody>
      </p:sp>
      <p:sp>
        <p:nvSpPr>
          <p:cNvPr id="15" name="Shape 13"/>
          <p:cNvSpPr/>
          <p:nvPr/>
        </p:nvSpPr>
        <p:spPr>
          <a:xfrm>
            <a:off x="457200" y="2926080"/>
            <a:ext cx="402336" cy="402336"/>
          </a:xfrm>
          <a:prstGeom prst="ellipse">
            <a:avLst/>
          </a:prstGeom>
          <a:solidFill>
            <a:srgbClr val="E8621A"/>
          </a:solidFill>
          <a:ln w="12700">
            <a:solidFill>
              <a:srgbClr val="E8621A"/>
            </a:solidFill>
            <a:prstDash val="solid"/>
          </a:ln>
        </p:spPr>
      </p:sp>
      <p:sp>
        <p:nvSpPr>
          <p:cNvPr id="16" name="Text 14"/>
          <p:cNvSpPr/>
          <p:nvPr/>
        </p:nvSpPr>
        <p:spPr>
          <a:xfrm>
            <a:off x="457200" y="29260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1005840" y="2834640"/>
            <a:ext cx="5486400" cy="585216"/>
          </a:xfrm>
          <a:prstGeom prst="rect">
            <a:avLst/>
          </a:prstGeom>
          <a:noFill/>
          <a:ln/>
        </p:spPr>
        <p:txBody>
          <a:bodyPr wrap="square" lIns="0" tIns="0" rIns="0" bIns="0" rtlCol="0" anchor="ctr"/>
          <a:lstStyle/>
          <a:p>
            <a:pPr algn="l" indent="0" marL="0">
              <a:buNone/>
            </a:pPr>
            <a:r>
              <a:rPr lang="en-US" sz="1300" dirty="0">
                <a:solidFill>
                  <a:srgbClr val="1C1C1E"/>
                </a:solidFill>
                <a:latin typeface="Calibri" pitchFamily="34" charset="0"/>
                <a:ea typeface="Calibri" pitchFamily="34" charset="-122"/>
                <a:cs typeface="Calibri" pitchFamily="34" charset="-120"/>
              </a:rPr>
              <a:t>Cliquez sur la recette — elle se sélectionne (bordure orange)</a:t>
            </a:r>
            <a:endParaRPr lang="en-US" sz="1300" dirty="0"/>
          </a:p>
        </p:txBody>
      </p:sp>
      <p:sp>
        <p:nvSpPr>
          <p:cNvPr id="18" name="Shape 16"/>
          <p:cNvSpPr/>
          <p:nvPr/>
        </p:nvSpPr>
        <p:spPr>
          <a:xfrm>
            <a:off x="457200" y="3767328"/>
            <a:ext cx="402336" cy="402336"/>
          </a:xfrm>
          <a:prstGeom prst="ellipse">
            <a:avLst/>
          </a:prstGeom>
          <a:solidFill>
            <a:srgbClr val="E8621A"/>
          </a:solidFill>
          <a:ln w="12700">
            <a:solidFill>
              <a:srgbClr val="E8621A"/>
            </a:solidFill>
            <a:prstDash val="solid"/>
          </a:ln>
        </p:spPr>
      </p:sp>
      <p:sp>
        <p:nvSpPr>
          <p:cNvPr id="19" name="Text 17"/>
          <p:cNvSpPr/>
          <p:nvPr/>
        </p:nvSpPr>
        <p:spPr>
          <a:xfrm>
            <a:off x="457200" y="37673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1005840" y="3675888"/>
            <a:ext cx="5486400" cy="585216"/>
          </a:xfrm>
          <a:prstGeom prst="rect">
            <a:avLst/>
          </a:prstGeom>
          <a:noFill/>
          <a:ln/>
        </p:spPr>
        <p:txBody>
          <a:bodyPr wrap="square" lIns="0" tIns="0" rIns="0" bIns="0" rtlCol="0" anchor="ctr"/>
          <a:lstStyle/>
          <a:p>
            <a:pPr algn="l" indent="0" marL="0">
              <a:buNone/>
            </a:pPr>
            <a:r>
              <a:rPr lang="en-US" sz="1300" dirty="0">
                <a:solidFill>
                  <a:srgbClr val="1C1C1E"/>
                </a:solidFill>
                <a:latin typeface="Calibri" pitchFamily="34" charset="0"/>
                <a:ea typeface="Calibri" pitchFamily="34" charset="-122"/>
                <a:cs typeface="Calibri" pitchFamily="34" charset="-120"/>
              </a:rPr>
              <a:t>Cliquez sur une cellule du calendrier — la recette est placée</a:t>
            </a:r>
            <a:endParaRPr lang="en-US" sz="1300" dirty="0"/>
          </a:p>
        </p:txBody>
      </p:sp>
      <p:sp>
        <p:nvSpPr>
          <p:cNvPr id="21" name="Shape 19"/>
          <p:cNvSpPr/>
          <p:nvPr/>
        </p:nvSpPr>
        <p:spPr>
          <a:xfrm>
            <a:off x="457200" y="4608576"/>
            <a:ext cx="402336" cy="402336"/>
          </a:xfrm>
          <a:prstGeom prst="ellipse">
            <a:avLst/>
          </a:prstGeom>
          <a:solidFill>
            <a:srgbClr val="E8621A"/>
          </a:solidFill>
          <a:ln w="12700">
            <a:solidFill>
              <a:srgbClr val="E8621A"/>
            </a:solidFill>
            <a:prstDash val="solid"/>
          </a:ln>
        </p:spPr>
      </p:sp>
      <p:sp>
        <p:nvSpPr>
          <p:cNvPr id="22" name="Text 20"/>
          <p:cNvSpPr/>
          <p:nvPr/>
        </p:nvSpPr>
        <p:spPr>
          <a:xfrm>
            <a:off x="457200" y="4608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005840" y="4517136"/>
            <a:ext cx="5486400" cy="585216"/>
          </a:xfrm>
          <a:prstGeom prst="rect">
            <a:avLst/>
          </a:prstGeom>
          <a:noFill/>
          <a:ln/>
        </p:spPr>
        <p:txBody>
          <a:bodyPr wrap="square" lIns="0" tIns="0" rIns="0" bIns="0" rtlCol="0" anchor="ctr"/>
          <a:lstStyle/>
          <a:p>
            <a:pPr algn="l" indent="0" marL="0">
              <a:buNone/>
            </a:pPr>
            <a:r>
              <a:rPr lang="en-US" sz="1300" dirty="0">
                <a:solidFill>
                  <a:srgbClr val="1C1C1E"/>
                </a:solidFill>
                <a:latin typeface="Calibri" pitchFamily="34" charset="0"/>
                <a:ea typeface="Calibri" pitchFamily="34" charset="-122"/>
                <a:cs typeface="Calibri" pitchFamily="34" charset="-120"/>
              </a:rPr>
              <a:t>Survolez une recette placée pour voir la liste d'ingrédients</a:t>
            </a:r>
            <a:endParaRPr lang="en-US" sz="1300" dirty="0"/>
          </a:p>
        </p:txBody>
      </p:sp>
      <p:sp>
        <p:nvSpPr>
          <p:cNvPr id="24" name="Text 22"/>
          <p:cNvSpPr/>
          <p:nvPr/>
        </p:nvSpPr>
        <p:spPr>
          <a:xfrm>
            <a:off x="457200" y="5394960"/>
            <a:ext cx="1463040" cy="329184"/>
          </a:xfrm>
          <a:prstGeom prst="rect">
            <a:avLst/>
          </a:prstGeom>
          <a:noFill/>
          <a:ln/>
        </p:spPr>
        <p:txBody>
          <a:bodyPr wrap="square" lIns="0" tIns="0" rIns="0" bIns="0" rtlCol="0" anchor="ctr"/>
          <a:lstStyle/>
          <a:p>
            <a:pPr algn="l" indent="0" marL="0">
              <a:buNone/>
            </a:pPr>
            <a:r>
              <a:rPr lang="en-US" sz="1100" b="1" dirty="0">
                <a:solidFill>
                  <a:srgbClr val="6B7280"/>
                </a:solidFill>
                <a:latin typeface="Calibri" pitchFamily="34" charset="0"/>
                <a:ea typeface="Calibri" pitchFamily="34" charset="-122"/>
                <a:cs typeface="Calibri" pitchFamily="34" charset="-120"/>
              </a:rPr>
              <a:t>Types de repas :</a:t>
            </a:r>
            <a:endParaRPr lang="en-US" sz="1100" dirty="0"/>
          </a:p>
        </p:txBody>
      </p:sp>
      <p:sp>
        <p:nvSpPr>
          <p:cNvPr id="25" name="Shape 23"/>
          <p:cNvSpPr/>
          <p:nvPr/>
        </p:nvSpPr>
        <p:spPr>
          <a:xfrm>
            <a:off x="2011680" y="5394960"/>
            <a:ext cx="1508760" cy="329184"/>
          </a:xfrm>
          <a:prstGeom prst="rect">
            <a:avLst/>
          </a:prstGeom>
          <a:solidFill>
            <a:srgbClr val="D97706"/>
          </a:solidFill>
          <a:ln w="12700">
            <a:solidFill>
              <a:srgbClr val="D97706"/>
            </a:solidFill>
            <a:prstDash val="solid"/>
          </a:ln>
        </p:spPr>
      </p:sp>
      <p:sp>
        <p:nvSpPr>
          <p:cNvPr id="26" name="Text 24"/>
          <p:cNvSpPr/>
          <p:nvPr/>
        </p:nvSpPr>
        <p:spPr>
          <a:xfrm>
            <a:off x="2011680" y="5394960"/>
            <a:ext cx="15087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Déjeuner</a:t>
            </a:r>
            <a:endParaRPr lang="en-US" sz="1100" dirty="0"/>
          </a:p>
        </p:txBody>
      </p:sp>
      <p:sp>
        <p:nvSpPr>
          <p:cNvPr id="27" name="Shape 25"/>
          <p:cNvSpPr/>
          <p:nvPr/>
        </p:nvSpPr>
        <p:spPr>
          <a:xfrm>
            <a:off x="3639312" y="5394960"/>
            <a:ext cx="1508760" cy="329184"/>
          </a:xfrm>
          <a:prstGeom prst="rect">
            <a:avLst/>
          </a:prstGeom>
          <a:solidFill>
            <a:srgbClr val="2D6A4F"/>
          </a:solidFill>
          <a:ln w="12700">
            <a:solidFill>
              <a:srgbClr val="2D6A4F"/>
            </a:solidFill>
            <a:prstDash val="solid"/>
          </a:ln>
        </p:spPr>
      </p:sp>
      <p:sp>
        <p:nvSpPr>
          <p:cNvPr id="28" name="Text 26"/>
          <p:cNvSpPr/>
          <p:nvPr/>
        </p:nvSpPr>
        <p:spPr>
          <a:xfrm>
            <a:off x="3639312" y="5394960"/>
            <a:ext cx="15087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Dîner</a:t>
            </a:r>
            <a:endParaRPr lang="en-US" sz="1100" dirty="0"/>
          </a:p>
        </p:txBody>
      </p:sp>
      <p:sp>
        <p:nvSpPr>
          <p:cNvPr id="29" name="Shape 27"/>
          <p:cNvSpPr/>
          <p:nvPr/>
        </p:nvSpPr>
        <p:spPr>
          <a:xfrm>
            <a:off x="5266944" y="5394960"/>
            <a:ext cx="1508760" cy="329184"/>
          </a:xfrm>
          <a:prstGeom prst="rect">
            <a:avLst/>
          </a:prstGeom>
          <a:solidFill>
            <a:srgbClr val="1D4ED8"/>
          </a:solidFill>
          <a:ln w="12700">
            <a:solidFill>
              <a:srgbClr val="1D4ED8"/>
            </a:solidFill>
            <a:prstDash val="solid"/>
          </a:ln>
        </p:spPr>
      </p:sp>
      <p:sp>
        <p:nvSpPr>
          <p:cNvPr id="30" name="Text 28"/>
          <p:cNvSpPr/>
          <p:nvPr/>
        </p:nvSpPr>
        <p:spPr>
          <a:xfrm>
            <a:off x="5266944" y="5394960"/>
            <a:ext cx="15087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Souper</a:t>
            </a:r>
            <a:endParaRPr lang="en-US" sz="1100" dirty="0"/>
          </a:p>
        </p:txBody>
      </p:sp>
      <p:sp>
        <p:nvSpPr>
          <p:cNvPr id="31" name="Shape 29"/>
          <p:cNvSpPr/>
          <p:nvPr/>
        </p:nvSpPr>
        <p:spPr>
          <a:xfrm>
            <a:off x="6894576" y="5394960"/>
            <a:ext cx="1508760" cy="329184"/>
          </a:xfrm>
          <a:prstGeom prst="rect">
            <a:avLst/>
          </a:prstGeom>
          <a:solidFill>
            <a:srgbClr val="7C3AED"/>
          </a:solidFill>
          <a:ln w="12700">
            <a:solidFill>
              <a:srgbClr val="7C3AED"/>
            </a:solidFill>
            <a:prstDash val="solid"/>
          </a:ln>
        </p:spPr>
      </p:sp>
      <p:sp>
        <p:nvSpPr>
          <p:cNvPr id="32" name="Text 30"/>
          <p:cNvSpPr/>
          <p:nvPr/>
        </p:nvSpPr>
        <p:spPr>
          <a:xfrm>
            <a:off x="6894576" y="5394960"/>
            <a:ext cx="15087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Collation</a:t>
            </a:r>
            <a:endParaRPr lang="en-US" sz="1100" dirty="0"/>
          </a:p>
        </p:txBody>
      </p:sp>
      <p:sp>
        <p:nvSpPr>
          <p:cNvPr id="33" name="Shape 31"/>
          <p:cNvSpPr/>
          <p:nvPr/>
        </p:nvSpPr>
        <p:spPr>
          <a:xfrm>
            <a:off x="6675120" y="1901952"/>
            <a:ext cx="5166360" cy="2926080"/>
          </a:xfrm>
          <a:prstGeom prst="rect">
            <a:avLst/>
          </a:prstGeom>
          <a:solidFill>
            <a:srgbClr val="E5E0D5">
              <a:alpha val="60000"/>
            </a:srgbClr>
          </a:solidFill>
          <a:ln w="12700">
            <a:solidFill>
              <a:srgbClr val="6B7280"/>
            </a:solidFill>
            <a:prstDash val="dash"/>
          </a:ln>
        </p:spPr>
      </p:sp>
      <p:sp>
        <p:nvSpPr>
          <p:cNvPr id="34" name="Text 32"/>
          <p:cNvSpPr/>
          <p:nvPr/>
        </p:nvSpPr>
        <p:spPr>
          <a:xfrm>
            <a:off x="6675120" y="1901952"/>
            <a:ext cx="5166360" cy="292608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Capture : grille de planification ]</a:t>
            </a:r>
            <a:endParaRPr lang="en-US" sz="1200" dirty="0"/>
          </a:p>
        </p:txBody>
      </p:sp>
      <p:sp>
        <p:nvSpPr>
          <p:cNvPr id="35" name="Shape 33"/>
          <p:cNvSpPr/>
          <p:nvPr/>
        </p:nvSpPr>
        <p:spPr>
          <a:xfrm>
            <a:off x="6675120" y="4983480"/>
            <a:ext cx="5166360" cy="1325880"/>
          </a:xfrm>
          <a:prstGeom prst="rect">
            <a:avLst/>
          </a:prstGeom>
          <a:solidFill>
            <a:srgbClr val="E5E0D5">
              <a:alpha val="60000"/>
            </a:srgbClr>
          </a:solidFill>
          <a:ln w="12700">
            <a:solidFill>
              <a:srgbClr val="6B7280"/>
            </a:solidFill>
            <a:prstDash val="dash"/>
          </a:ln>
        </p:spPr>
      </p:sp>
      <p:sp>
        <p:nvSpPr>
          <p:cNvPr id="36" name="Text 34"/>
          <p:cNvSpPr/>
          <p:nvPr/>
        </p:nvSpPr>
        <p:spPr>
          <a:xfrm>
            <a:off x="6675120" y="4983480"/>
            <a:ext cx="5166360" cy="132588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Capture : infobulle ingrédients ]</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EF9"/>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7C3AED"/>
          </a:solidFill>
          <a:ln w="12700">
            <a:solidFill>
              <a:srgbClr val="7C3AED"/>
            </a:solidFill>
            <a:prstDash val="solid"/>
          </a:ln>
        </p:spPr>
      </p:sp>
      <p:sp>
        <p:nvSpPr>
          <p:cNvPr id="3" name="Shape 1"/>
          <p:cNvSpPr/>
          <p:nvPr/>
        </p:nvSpPr>
        <p:spPr>
          <a:xfrm>
            <a:off x="457200" y="731520"/>
            <a:ext cx="2286000" cy="347472"/>
          </a:xfrm>
          <a:prstGeom prst="rect">
            <a:avLst/>
          </a:prstGeom>
          <a:solidFill>
            <a:srgbClr val="2D6A4F"/>
          </a:solidFill>
          <a:ln w="12700">
            <a:solidFill>
              <a:srgbClr val="2D6A4F"/>
            </a:solidFill>
            <a:prstDash val="solid"/>
          </a:ln>
        </p:spPr>
      </p:sp>
      <p:sp>
        <p:nvSpPr>
          <p:cNvPr id="4" name="Text 2"/>
          <p:cNvSpPr/>
          <p:nvPr/>
        </p:nvSpPr>
        <p:spPr>
          <a:xfrm>
            <a:off x="457200" y="731520"/>
            <a:ext cx="22860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DÉMO EN DIRECT</a:t>
            </a:r>
            <a:endParaRPr lang="en-US" sz="1100" dirty="0"/>
          </a:p>
        </p:txBody>
      </p:sp>
      <p:sp>
        <p:nvSpPr>
          <p:cNvPr id="5" name="Shape 3"/>
          <p:cNvSpPr/>
          <p:nvPr/>
        </p:nvSpPr>
        <p:spPr>
          <a:xfrm>
            <a:off x="2926080" y="749808"/>
            <a:ext cx="1828800" cy="329184"/>
          </a:xfrm>
          <a:prstGeom prst="rect">
            <a:avLst/>
          </a:prstGeom>
          <a:solidFill>
            <a:srgbClr val="E5E0D5"/>
          </a:solidFill>
          <a:ln w="12700">
            <a:solidFill>
              <a:srgbClr val="E5E0D5"/>
            </a:solidFill>
            <a:prstDash val="solid"/>
          </a:ln>
        </p:spPr>
      </p:sp>
      <p:sp>
        <p:nvSpPr>
          <p:cNvPr id="6" name="Text 4"/>
          <p:cNvSpPr/>
          <p:nvPr/>
        </p:nvSpPr>
        <p:spPr>
          <a:xfrm>
            <a:off x="2926080" y="749808"/>
            <a:ext cx="182880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1 · Configurer</a:t>
            </a:r>
            <a:endParaRPr lang="en-US" sz="1100" dirty="0"/>
          </a:p>
        </p:txBody>
      </p:sp>
      <p:sp>
        <p:nvSpPr>
          <p:cNvPr id="7" name="Shape 5"/>
          <p:cNvSpPr/>
          <p:nvPr/>
        </p:nvSpPr>
        <p:spPr>
          <a:xfrm>
            <a:off x="4892040" y="749808"/>
            <a:ext cx="1828800" cy="329184"/>
          </a:xfrm>
          <a:prstGeom prst="rect">
            <a:avLst/>
          </a:prstGeom>
          <a:solidFill>
            <a:srgbClr val="E5E0D5"/>
          </a:solidFill>
          <a:ln w="12700">
            <a:solidFill>
              <a:srgbClr val="E5E0D5"/>
            </a:solidFill>
            <a:prstDash val="solid"/>
          </a:ln>
        </p:spPr>
      </p:sp>
      <p:sp>
        <p:nvSpPr>
          <p:cNvPr id="8" name="Text 6"/>
          <p:cNvSpPr/>
          <p:nvPr/>
        </p:nvSpPr>
        <p:spPr>
          <a:xfrm>
            <a:off x="4892040" y="749808"/>
            <a:ext cx="182880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2 · Planifier</a:t>
            </a:r>
            <a:endParaRPr lang="en-US" sz="1100" dirty="0"/>
          </a:p>
        </p:txBody>
      </p:sp>
      <p:sp>
        <p:nvSpPr>
          <p:cNvPr id="9" name="Shape 7"/>
          <p:cNvSpPr/>
          <p:nvPr/>
        </p:nvSpPr>
        <p:spPr>
          <a:xfrm>
            <a:off x="6858000" y="749808"/>
            <a:ext cx="1828800" cy="329184"/>
          </a:xfrm>
          <a:prstGeom prst="rect">
            <a:avLst/>
          </a:prstGeom>
          <a:solidFill>
            <a:srgbClr val="E8621A"/>
          </a:solidFill>
          <a:ln w="12700">
            <a:solidFill>
              <a:srgbClr val="E8621A"/>
            </a:solidFill>
            <a:prstDash val="solid"/>
          </a:ln>
        </p:spPr>
      </p:sp>
      <p:sp>
        <p:nvSpPr>
          <p:cNvPr id="10" name="Text 8"/>
          <p:cNvSpPr/>
          <p:nvPr/>
        </p:nvSpPr>
        <p:spPr>
          <a:xfrm>
            <a:off x="6858000" y="749808"/>
            <a:ext cx="18288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 · Exporter</a:t>
            </a:r>
            <a:endParaRPr lang="en-US" sz="1100" dirty="0"/>
          </a:p>
        </p:txBody>
      </p:sp>
      <p:sp>
        <p:nvSpPr>
          <p:cNvPr id="11" name="Text 9"/>
          <p:cNvSpPr/>
          <p:nvPr/>
        </p:nvSpPr>
        <p:spPr>
          <a:xfrm>
            <a:off x="457200" y="1261872"/>
            <a:ext cx="11247120" cy="530352"/>
          </a:xfrm>
          <a:prstGeom prst="rect">
            <a:avLst/>
          </a:prstGeom>
          <a:noFill/>
          <a:ln/>
        </p:spPr>
        <p:txBody>
          <a:bodyPr wrap="square" lIns="0" tIns="0" rIns="0" bIns="0" rtlCol="0" anchor="ctr"/>
          <a:lstStyle/>
          <a:p>
            <a:pPr algn="l" indent="0" marL="0">
              <a:buNone/>
            </a:pPr>
            <a:r>
              <a:rPr lang="en-US" sz="2800" b="1" dirty="0">
                <a:solidFill>
                  <a:srgbClr val="1C1C1E"/>
                </a:solidFill>
                <a:latin typeface="Georgia" pitchFamily="34" charset="0"/>
                <a:ea typeface="Georgia" pitchFamily="34" charset="-122"/>
                <a:cs typeface="Georgia" pitchFamily="34" charset="-120"/>
              </a:rPr>
              <a:t>Étape 3 — Générer liste d'épicerie &amp; menus</a:t>
            </a:r>
            <a:endParaRPr lang="en-US" sz="2800" dirty="0"/>
          </a:p>
        </p:txBody>
      </p:sp>
      <p:sp>
        <p:nvSpPr>
          <p:cNvPr id="12" name="Shape 10"/>
          <p:cNvSpPr/>
          <p:nvPr/>
        </p:nvSpPr>
        <p:spPr>
          <a:xfrm>
            <a:off x="411480" y="1965960"/>
            <a:ext cx="2697480" cy="292608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13" name="Shape 11"/>
          <p:cNvSpPr/>
          <p:nvPr/>
        </p:nvSpPr>
        <p:spPr>
          <a:xfrm>
            <a:off x="411480" y="1965960"/>
            <a:ext cx="2697480" cy="73152"/>
          </a:xfrm>
          <a:prstGeom prst="rect">
            <a:avLst/>
          </a:prstGeom>
          <a:solidFill>
            <a:srgbClr val="E8621A"/>
          </a:solidFill>
          <a:ln w="12700">
            <a:solidFill>
              <a:srgbClr val="E8621A"/>
            </a:solidFill>
            <a:prstDash val="solid"/>
          </a:ln>
        </p:spPr>
      </p:sp>
      <p:sp>
        <p:nvSpPr>
          <p:cNvPr id="14" name="Text 12"/>
          <p:cNvSpPr/>
          <p:nvPr/>
        </p:nvSpPr>
        <p:spPr>
          <a:xfrm>
            <a:off x="411480" y="2130552"/>
            <a:ext cx="2697480" cy="822960"/>
          </a:xfrm>
          <a:prstGeom prst="rect">
            <a:avLst/>
          </a:prstGeom>
          <a:noFill/>
          <a:ln/>
        </p:spPr>
        <p:txBody>
          <a:bodyPr wrap="square" lIns="0" tIns="0" rIns="0" bIns="0" rtlCol="0" anchor="ctr"/>
          <a:lstStyle/>
          <a:p>
            <a:pPr algn="ctr" indent="0" marL="0">
              <a:buNone/>
            </a:pPr>
            <a:r>
              <a:rPr lang="en-US" sz="4000" dirty="0">
                <a:solidFill>
                  <a:srgbClr val="000000"/>
                </a:solidFill>
                <a:latin typeface="Calibri" pitchFamily="34" charset="0"/>
                <a:ea typeface="Calibri" pitchFamily="34" charset="-122"/>
                <a:cs typeface="Calibri" pitchFamily="34" charset="-120"/>
              </a:rPr>
              <a:t>📊</a:t>
            </a:r>
            <a:endParaRPr lang="en-US" sz="4000" dirty="0"/>
          </a:p>
        </p:txBody>
      </p:sp>
      <p:sp>
        <p:nvSpPr>
          <p:cNvPr id="15" name="Text 13"/>
          <p:cNvSpPr/>
          <p:nvPr/>
        </p:nvSpPr>
        <p:spPr>
          <a:xfrm>
            <a:off x="502920" y="2990088"/>
            <a:ext cx="2514600" cy="411480"/>
          </a:xfrm>
          <a:prstGeom prst="rect">
            <a:avLst/>
          </a:prstGeom>
          <a:noFill/>
          <a:ln/>
        </p:spPr>
        <p:txBody>
          <a:bodyPr wrap="square" lIns="0" tIns="0" rIns="0" bIns="0" rtlCol="0" anchor="ctr"/>
          <a:lstStyle/>
          <a:p>
            <a:pPr algn="ctr" indent="0" marL="0">
              <a:buNone/>
            </a:pPr>
            <a:r>
              <a:rPr lang="en-US" sz="1300" b="1" dirty="0">
                <a:solidFill>
                  <a:srgbClr val="1C1C1E"/>
                </a:solidFill>
                <a:latin typeface="Calibri" pitchFamily="34" charset="0"/>
                <a:ea typeface="Calibri" pitchFamily="34" charset="-122"/>
                <a:cs typeface="Calibri" pitchFamily="34" charset="-120"/>
              </a:rPr>
              <a:t>Liste d'épicerie</a:t>
            </a:r>
            <a:endParaRPr lang="en-US" sz="1300" dirty="0"/>
          </a:p>
        </p:txBody>
      </p:sp>
      <p:sp>
        <p:nvSpPr>
          <p:cNvPr id="16" name="Text 14"/>
          <p:cNvSpPr/>
          <p:nvPr/>
        </p:nvSpPr>
        <p:spPr>
          <a:xfrm>
            <a:off x="502920" y="3429000"/>
            <a:ext cx="2514600" cy="74980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Quantités × participants</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Groupées par section (viandes, légumes…)</a:t>
            </a:r>
            <a:endParaRPr lang="en-US" sz="1100" dirty="0"/>
          </a:p>
        </p:txBody>
      </p:sp>
      <p:sp>
        <p:nvSpPr>
          <p:cNvPr id="17" name="Text 15"/>
          <p:cNvSpPr/>
          <p:nvPr/>
        </p:nvSpPr>
        <p:spPr>
          <a:xfrm>
            <a:off x="502920" y="4526280"/>
            <a:ext cx="2514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 Ouvrir  ·  ⬇ PDF</a:t>
            </a:r>
            <a:endParaRPr lang="en-US" sz="1000" dirty="0"/>
          </a:p>
        </p:txBody>
      </p:sp>
      <p:sp>
        <p:nvSpPr>
          <p:cNvPr id="18" name="Shape 16"/>
          <p:cNvSpPr/>
          <p:nvPr/>
        </p:nvSpPr>
        <p:spPr>
          <a:xfrm>
            <a:off x="3291840" y="1965960"/>
            <a:ext cx="2697480" cy="292608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19" name="Shape 17"/>
          <p:cNvSpPr/>
          <p:nvPr/>
        </p:nvSpPr>
        <p:spPr>
          <a:xfrm>
            <a:off x="3291840" y="1965960"/>
            <a:ext cx="2697480" cy="73152"/>
          </a:xfrm>
          <a:prstGeom prst="rect">
            <a:avLst/>
          </a:prstGeom>
          <a:solidFill>
            <a:srgbClr val="2D6A4F"/>
          </a:solidFill>
          <a:ln w="12700">
            <a:solidFill>
              <a:srgbClr val="2D6A4F"/>
            </a:solidFill>
            <a:prstDash val="solid"/>
          </a:ln>
        </p:spPr>
      </p:sp>
      <p:sp>
        <p:nvSpPr>
          <p:cNvPr id="20" name="Text 18"/>
          <p:cNvSpPr/>
          <p:nvPr/>
        </p:nvSpPr>
        <p:spPr>
          <a:xfrm>
            <a:off x="3291840" y="2130552"/>
            <a:ext cx="2697480" cy="822960"/>
          </a:xfrm>
          <a:prstGeom prst="rect">
            <a:avLst/>
          </a:prstGeom>
          <a:noFill/>
          <a:ln/>
        </p:spPr>
        <p:txBody>
          <a:bodyPr wrap="square" lIns="0" tIns="0" rIns="0" bIns="0" rtlCol="0" anchor="ctr"/>
          <a:lstStyle/>
          <a:p>
            <a:pPr algn="ctr" indent="0" marL="0">
              <a:buNone/>
            </a:pPr>
            <a:r>
              <a:rPr lang="en-US" sz="4000" dirty="0">
                <a:solidFill>
                  <a:srgbClr val="000000"/>
                </a:solidFill>
                <a:latin typeface="Calibri" pitchFamily="34" charset="0"/>
                <a:ea typeface="Calibri" pitchFamily="34" charset="-122"/>
                <a:cs typeface="Calibri" pitchFamily="34" charset="-120"/>
              </a:rPr>
              <a:t>🛒</a:t>
            </a:r>
            <a:endParaRPr lang="en-US" sz="4000" dirty="0"/>
          </a:p>
        </p:txBody>
      </p:sp>
      <p:sp>
        <p:nvSpPr>
          <p:cNvPr id="21" name="Text 19"/>
          <p:cNvSpPr/>
          <p:nvPr/>
        </p:nvSpPr>
        <p:spPr>
          <a:xfrm>
            <a:off x="3383280" y="2990088"/>
            <a:ext cx="2514600" cy="411480"/>
          </a:xfrm>
          <a:prstGeom prst="rect">
            <a:avLst/>
          </a:prstGeom>
          <a:noFill/>
          <a:ln/>
        </p:spPr>
        <p:txBody>
          <a:bodyPr wrap="square" lIns="0" tIns="0" rIns="0" bIns="0" rtlCol="0" anchor="ctr"/>
          <a:lstStyle/>
          <a:p>
            <a:pPr algn="ctr" indent="0" marL="0">
              <a:buNone/>
            </a:pPr>
            <a:r>
              <a:rPr lang="en-US" sz="1300" b="1" dirty="0">
                <a:solidFill>
                  <a:srgbClr val="1C1C1E"/>
                </a:solidFill>
                <a:latin typeface="Calibri" pitchFamily="34" charset="0"/>
                <a:ea typeface="Calibri" pitchFamily="34" charset="-122"/>
                <a:cs typeface="Calibri" pitchFamily="34" charset="-120"/>
              </a:rPr>
              <a:t>Liste imprimable</a:t>
            </a:r>
            <a:endParaRPr lang="en-US" sz="1300" dirty="0"/>
          </a:p>
        </p:txBody>
      </p:sp>
      <p:sp>
        <p:nvSpPr>
          <p:cNvPr id="22" name="Text 20"/>
          <p:cNvSpPr/>
          <p:nvPr/>
        </p:nvSpPr>
        <p:spPr>
          <a:xfrm>
            <a:off x="3383280" y="3429000"/>
            <a:ext cx="2514600" cy="74980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Cochez les items en faisant</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vos courses au camp</a:t>
            </a:r>
            <a:endParaRPr lang="en-US" sz="1100" dirty="0"/>
          </a:p>
        </p:txBody>
      </p:sp>
      <p:sp>
        <p:nvSpPr>
          <p:cNvPr id="23" name="Text 21"/>
          <p:cNvSpPr/>
          <p:nvPr/>
        </p:nvSpPr>
        <p:spPr>
          <a:xfrm>
            <a:off x="3383280" y="4526280"/>
            <a:ext cx="2514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 Ouvrir  ·  ⬇ PDF</a:t>
            </a:r>
            <a:endParaRPr lang="en-US" sz="1000" dirty="0"/>
          </a:p>
        </p:txBody>
      </p:sp>
      <p:sp>
        <p:nvSpPr>
          <p:cNvPr id="24" name="Shape 22"/>
          <p:cNvSpPr/>
          <p:nvPr/>
        </p:nvSpPr>
        <p:spPr>
          <a:xfrm>
            <a:off x="6172200" y="1965960"/>
            <a:ext cx="2697480" cy="292608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25" name="Shape 23"/>
          <p:cNvSpPr/>
          <p:nvPr/>
        </p:nvSpPr>
        <p:spPr>
          <a:xfrm>
            <a:off x="6172200" y="1965960"/>
            <a:ext cx="2697480" cy="73152"/>
          </a:xfrm>
          <a:prstGeom prst="rect">
            <a:avLst/>
          </a:prstGeom>
          <a:solidFill>
            <a:srgbClr val="1D4ED8"/>
          </a:solidFill>
          <a:ln w="12700">
            <a:solidFill>
              <a:srgbClr val="1D4ED8"/>
            </a:solidFill>
            <a:prstDash val="solid"/>
          </a:ln>
        </p:spPr>
      </p:sp>
      <p:sp>
        <p:nvSpPr>
          <p:cNvPr id="26" name="Text 24"/>
          <p:cNvSpPr/>
          <p:nvPr/>
        </p:nvSpPr>
        <p:spPr>
          <a:xfrm>
            <a:off x="6172200" y="2130552"/>
            <a:ext cx="2697480" cy="822960"/>
          </a:xfrm>
          <a:prstGeom prst="rect">
            <a:avLst/>
          </a:prstGeom>
          <a:noFill/>
          <a:ln/>
        </p:spPr>
        <p:txBody>
          <a:bodyPr wrap="square" lIns="0" tIns="0" rIns="0" bIns="0" rtlCol="0" anchor="ctr"/>
          <a:lstStyle/>
          <a:p>
            <a:pPr algn="ctr" indent="0" marL="0">
              <a:buNone/>
            </a:pPr>
            <a:r>
              <a:rPr lang="en-US" sz="4000" dirty="0">
                <a:solidFill>
                  <a:srgbClr val="000000"/>
                </a:solidFill>
                <a:latin typeface="Calibri" pitchFamily="34" charset="0"/>
                <a:ea typeface="Calibri" pitchFamily="34" charset="-122"/>
                <a:cs typeface="Calibri" pitchFamily="34" charset="-120"/>
              </a:rPr>
              <a:t>📅</a:t>
            </a:r>
            <a:endParaRPr lang="en-US" sz="4000" dirty="0"/>
          </a:p>
        </p:txBody>
      </p:sp>
      <p:sp>
        <p:nvSpPr>
          <p:cNvPr id="27" name="Text 25"/>
          <p:cNvSpPr/>
          <p:nvPr/>
        </p:nvSpPr>
        <p:spPr>
          <a:xfrm>
            <a:off x="6263640" y="2990088"/>
            <a:ext cx="2514600" cy="411480"/>
          </a:xfrm>
          <a:prstGeom prst="rect">
            <a:avLst/>
          </a:prstGeom>
          <a:noFill/>
          <a:ln/>
        </p:spPr>
        <p:txBody>
          <a:bodyPr wrap="square" lIns="0" tIns="0" rIns="0" bIns="0" rtlCol="0" anchor="ctr"/>
          <a:lstStyle/>
          <a:p>
            <a:pPr algn="ctr" indent="0" marL="0">
              <a:buNone/>
            </a:pPr>
            <a:r>
              <a:rPr lang="en-US" sz="1300" b="1" dirty="0">
                <a:solidFill>
                  <a:srgbClr val="1C1C1E"/>
                </a:solidFill>
                <a:latin typeface="Calibri" pitchFamily="34" charset="0"/>
                <a:ea typeface="Calibri" pitchFamily="34" charset="-122"/>
                <a:cs typeface="Calibri" pitchFamily="34" charset="-120"/>
              </a:rPr>
              <a:t>Menu visuel</a:t>
            </a:r>
            <a:endParaRPr lang="en-US" sz="1300" dirty="0"/>
          </a:p>
        </p:txBody>
      </p:sp>
      <p:sp>
        <p:nvSpPr>
          <p:cNvPr id="28" name="Text 26"/>
          <p:cNvSpPr/>
          <p:nvPr/>
        </p:nvSpPr>
        <p:spPr>
          <a:xfrm>
            <a:off x="6263640" y="3429000"/>
            <a:ext cx="2514600" cy="74980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Tableau élégant par jour et repas</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Affichez en cuisine de camp</a:t>
            </a:r>
            <a:endParaRPr lang="en-US" sz="1100" dirty="0"/>
          </a:p>
        </p:txBody>
      </p:sp>
      <p:sp>
        <p:nvSpPr>
          <p:cNvPr id="29" name="Text 27"/>
          <p:cNvSpPr/>
          <p:nvPr/>
        </p:nvSpPr>
        <p:spPr>
          <a:xfrm>
            <a:off x="6263640" y="4526280"/>
            <a:ext cx="2514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 Ouvrir  ·  ⬇ PDF</a:t>
            </a:r>
            <a:endParaRPr lang="en-US" sz="1000" dirty="0"/>
          </a:p>
        </p:txBody>
      </p:sp>
      <p:sp>
        <p:nvSpPr>
          <p:cNvPr id="30" name="Shape 28"/>
          <p:cNvSpPr/>
          <p:nvPr/>
        </p:nvSpPr>
        <p:spPr>
          <a:xfrm>
            <a:off x="9052560" y="1965960"/>
            <a:ext cx="2697480" cy="292608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31" name="Shape 29"/>
          <p:cNvSpPr/>
          <p:nvPr/>
        </p:nvSpPr>
        <p:spPr>
          <a:xfrm>
            <a:off x="9052560" y="1965960"/>
            <a:ext cx="2697480" cy="73152"/>
          </a:xfrm>
          <a:prstGeom prst="rect">
            <a:avLst/>
          </a:prstGeom>
          <a:solidFill>
            <a:srgbClr val="7C3AED"/>
          </a:solidFill>
          <a:ln w="12700">
            <a:solidFill>
              <a:srgbClr val="7C3AED"/>
            </a:solidFill>
            <a:prstDash val="solid"/>
          </a:ln>
        </p:spPr>
      </p:sp>
      <p:sp>
        <p:nvSpPr>
          <p:cNvPr id="32" name="Text 30"/>
          <p:cNvSpPr/>
          <p:nvPr/>
        </p:nvSpPr>
        <p:spPr>
          <a:xfrm>
            <a:off x="9052560" y="2130552"/>
            <a:ext cx="2697480" cy="822960"/>
          </a:xfrm>
          <a:prstGeom prst="rect">
            <a:avLst/>
          </a:prstGeom>
          <a:noFill/>
          <a:ln/>
        </p:spPr>
        <p:txBody>
          <a:bodyPr wrap="square" lIns="0" tIns="0" rIns="0" bIns="0" rtlCol="0" anchor="ctr"/>
          <a:lstStyle/>
          <a:p>
            <a:pPr algn="ctr" indent="0" marL="0">
              <a:buNone/>
            </a:pPr>
            <a:r>
              <a:rPr lang="en-US" sz="4000" dirty="0">
                <a:solidFill>
                  <a:srgbClr val="000000"/>
                </a:solidFill>
                <a:latin typeface="Calibri" pitchFamily="34" charset="0"/>
                <a:ea typeface="Calibri" pitchFamily="34" charset="-122"/>
                <a:cs typeface="Calibri" pitchFamily="34" charset="-120"/>
              </a:rPr>
              <a:t>📋</a:t>
            </a:r>
            <a:endParaRPr lang="en-US" sz="4000" dirty="0"/>
          </a:p>
        </p:txBody>
      </p:sp>
      <p:sp>
        <p:nvSpPr>
          <p:cNvPr id="33" name="Text 31"/>
          <p:cNvSpPr/>
          <p:nvPr/>
        </p:nvSpPr>
        <p:spPr>
          <a:xfrm>
            <a:off x="9144000" y="2990088"/>
            <a:ext cx="2514600" cy="411480"/>
          </a:xfrm>
          <a:prstGeom prst="rect">
            <a:avLst/>
          </a:prstGeom>
          <a:noFill/>
          <a:ln/>
        </p:spPr>
        <p:txBody>
          <a:bodyPr wrap="square" lIns="0" tIns="0" rIns="0" bIns="0" rtlCol="0" anchor="ctr"/>
          <a:lstStyle/>
          <a:p>
            <a:pPr algn="ctr" indent="0" marL="0">
              <a:buNone/>
            </a:pPr>
            <a:r>
              <a:rPr lang="en-US" sz="1300" b="1" dirty="0">
                <a:solidFill>
                  <a:srgbClr val="1C1C1E"/>
                </a:solidFill>
                <a:latin typeface="Calibri" pitchFamily="34" charset="0"/>
                <a:ea typeface="Calibri" pitchFamily="34" charset="-122"/>
                <a:cs typeface="Calibri" pitchFamily="34" charset="-120"/>
              </a:rPr>
              <a:t>Menu détaillé</a:t>
            </a:r>
            <a:endParaRPr lang="en-US" sz="1300" dirty="0"/>
          </a:p>
        </p:txBody>
      </p:sp>
      <p:sp>
        <p:nvSpPr>
          <p:cNvPr id="34" name="Text 32"/>
          <p:cNvSpPr/>
          <p:nvPr/>
        </p:nvSpPr>
        <p:spPr>
          <a:xfrm>
            <a:off x="9144000" y="3429000"/>
            <a:ext cx="2514600" cy="749808"/>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Recettes complètes avec quantités</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par personne et pour le groupe</a:t>
            </a:r>
            <a:endParaRPr lang="en-US" sz="1100" dirty="0"/>
          </a:p>
        </p:txBody>
      </p:sp>
      <p:sp>
        <p:nvSpPr>
          <p:cNvPr id="35" name="Text 33"/>
          <p:cNvSpPr/>
          <p:nvPr/>
        </p:nvSpPr>
        <p:spPr>
          <a:xfrm>
            <a:off x="9144000" y="4526280"/>
            <a:ext cx="2514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 Ouvrir  ·  ⬇ PDF</a:t>
            </a:r>
            <a:endParaRPr lang="en-US" sz="1000" dirty="0"/>
          </a:p>
        </p:txBody>
      </p:sp>
      <p:sp>
        <p:nvSpPr>
          <p:cNvPr id="36" name="Shape 34"/>
          <p:cNvSpPr/>
          <p:nvPr/>
        </p:nvSpPr>
        <p:spPr>
          <a:xfrm>
            <a:off x="457200" y="5120640"/>
            <a:ext cx="11247120" cy="640080"/>
          </a:xfrm>
          <a:prstGeom prst="rect">
            <a:avLst/>
          </a:prstGeom>
          <a:solidFill>
            <a:srgbClr val="FFEDDE"/>
          </a:solidFill>
          <a:ln w="12700">
            <a:solidFill>
              <a:srgbClr val="E5E0D5"/>
            </a:solidFill>
            <a:prstDash val="solid"/>
          </a:ln>
        </p:spPr>
      </p:sp>
      <p:sp>
        <p:nvSpPr>
          <p:cNvPr id="37" name="Text 35"/>
          <p:cNvSpPr/>
          <p:nvPr/>
        </p:nvSpPr>
        <p:spPr>
          <a:xfrm>
            <a:off x="640080" y="5184648"/>
            <a:ext cx="10881360" cy="512064"/>
          </a:xfrm>
          <a:prstGeom prst="rect">
            <a:avLst/>
          </a:prstGeom>
          <a:noFill/>
          <a:ln/>
        </p:spPr>
        <p:txBody>
          <a:bodyPr wrap="square" lIns="0" tIns="0" rIns="0" bIns="0" rtlCol="0" anchor="ctr"/>
          <a:lstStyle/>
          <a:p>
            <a:pPr algn="l" indent="0" marL="0">
              <a:buNone/>
            </a:pPr>
            <a:r>
              <a:rPr lang="en-US" sz="1300" dirty="0">
                <a:solidFill>
                  <a:srgbClr val="5C4033"/>
                </a:solidFill>
                <a:latin typeface="Calibri" pitchFamily="34" charset="0"/>
                <a:ea typeface="Calibri" pitchFamily="34" charset="-122"/>
                <a:cs typeface="Calibri" pitchFamily="34" charset="-120"/>
              </a:rPr>
              <a:t>🔥  Les quantités sont automatiquement multipliées par le nombre de participants — zéro calcul manuel !</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EF9"/>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D6A4F"/>
          </a:solidFill>
          <a:ln w="12700">
            <a:solidFill>
              <a:srgbClr val="2D6A4F"/>
            </a:solidFill>
            <a:prstDash val="solid"/>
          </a:ln>
        </p:spPr>
      </p:sp>
      <p:sp>
        <p:nvSpPr>
          <p:cNvPr id="3" name="Text 1"/>
          <p:cNvSpPr/>
          <p:nvPr/>
        </p:nvSpPr>
        <p:spPr>
          <a:xfrm>
            <a:off x="457200" y="201168"/>
            <a:ext cx="11247120" cy="594360"/>
          </a:xfrm>
          <a:prstGeom prst="rect">
            <a:avLst/>
          </a:prstGeom>
          <a:noFill/>
          <a:ln/>
        </p:spPr>
        <p:txBody>
          <a:bodyPr wrap="square" lIns="0" tIns="0" rIns="0" bIns="0" rtlCol="0" anchor="ctr"/>
          <a:lstStyle/>
          <a:p>
            <a:pPr algn="l" indent="0" marL="0">
              <a:buNone/>
            </a:pPr>
            <a:r>
              <a:rPr lang="en-US" sz="3200" b="1" dirty="0">
                <a:solidFill>
                  <a:srgbClr val="1C1C1E"/>
                </a:solidFill>
                <a:latin typeface="Georgia" pitchFamily="34" charset="0"/>
                <a:ea typeface="Georgia" pitchFamily="34" charset="-122"/>
                <a:cs typeface="Georgia" pitchFamily="34" charset="-120"/>
              </a:rPr>
              <a:t>Fonctionnalités clés</a:t>
            </a:r>
            <a:endParaRPr lang="en-US" sz="3200" dirty="0"/>
          </a:p>
        </p:txBody>
      </p:sp>
      <p:sp>
        <p:nvSpPr>
          <p:cNvPr id="4" name="Text 2"/>
          <p:cNvSpPr/>
          <p:nvPr/>
        </p:nvSpPr>
        <p:spPr>
          <a:xfrm>
            <a:off x="457200" y="777240"/>
            <a:ext cx="11247120" cy="347472"/>
          </a:xfrm>
          <a:prstGeom prst="rect">
            <a:avLst/>
          </a:prstGeom>
          <a:noFill/>
          <a:ln/>
        </p:spPr>
        <p:txBody>
          <a:bodyPr wrap="square" lIns="0" tIns="0" rIns="0" bIns="0" rtlCol="0" anchor="ctr"/>
          <a:lstStyle/>
          <a:p>
            <a:pPr algn="l" indent="0" marL="0">
              <a:buNone/>
            </a:pPr>
            <a:r>
              <a:rPr lang="en-US" sz="1500" dirty="0">
                <a:solidFill>
                  <a:srgbClr val="6B7280"/>
                </a:solidFill>
                <a:latin typeface="Calibri" pitchFamily="34" charset="0"/>
                <a:ea typeface="Calibri" pitchFamily="34" charset="-122"/>
                <a:cs typeface="Calibri" pitchFamily="34" charset="-120"/>
              </a:rPr>
              <a:t>Tout ce qu'il faut pour planifier sereinement</a:t>
            </a:r>
            <a:endParaRPr lang="en-US" sz="1500" dirty="0"/>
          </a:p>
        </p:txBody>
      </p:sp>
      <p:sp>
        <p:nvSpPr>
          <p:cNvPr id="5" name="Shape 3"/>
          <p:cNvSpPr/>
          <p:nvPr/>
        </p:nvSpPr>
        <p:spPr>
          <a:xfrm>
            <a:off x="457200" y="1353312"/>
            <a:ext cx="5440680" cy="201168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457200" y="1353312"/>
            <a:ext cx="64008" cy="2011680"/>
          </a:xfrm>
          <a:prstGeom prst="rect">
            <a:avLst/>
          </a:prstGeom>
          <a:solidFill>
            <a:srgbClr val="2D6A4F"/>
          </a:solidFill>
          <a:ln w="12700">
            <a:solidFill>
              <a:srgbClr val="2D6A4F"/>
            </a:solidFill>
            <a:prstDash val="solid"/>
          </a:ln>
        </p:spPr>
      </p:sp>
      <p:sp>
        <p:nvSpPr>
          <p:cNvPr id="7" name="Text 5"/>
          <p:cNvSpPr/>
          <p:nvPr/>
        </p:nvSpPr>
        <p:spPr>
          <a:xfrm>
            <a:off x="658368" y="1554480"/>
            <a:ext cx="594360" cy="594360"/>
          </a:xfrm>
          <a:prstGeom prst="rect">
            <a:avLst/>
          </a:prstGeom>
          <a:noFill/>
          <a:ln/>
        </p:spPr>
        <p:txBody>
          <a:bodyPr wrap="square" lIns="0" tIns="0" rIns="0" bIns="0"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8" name="Text 6"/>
          <p:cNvSpPr/>
          <p:nvPr/>
        </p:nvSpPr>
        <p:spPr>
          <a:xfrm>
            <a:off x="1371600" y="1517904"/>
            <a:ext cx="4389120" cy="384048"/>
          </a:xfrm>
          <a:prstGeom prst="rect">
            <a:avLst/>
          </a:prstGeom>
          <a:noFill/>
          <a:ln/>
        </p:spPr>
        <p:txBody>
          <a:bodyPr wrap="square" lIns="0" tIns="0" rIns="0" bIns="0" rtlCol="0" anchor="ctr"/>
          <a:lstStyle/>
          <a:p>
            <a:pPr algn="l" indent="0" marL="0">
              <a:buNone/>
            </a:pPr>
            <a:r>
              <a:rPr lang="en-US" sz="1500" b="1" dirty="0">
                <a:solidFill>
                  <a:srgbClr val="1C1C1E"/>
                </a:solidFill>
                <a:latin typeface="Calibri" pitchFamily="34" charset="0"/>
                <a:ea typeface="Calibri" pitchFamily="34" charset="-122"/>
                <a:cs typeface="Calibri" pitchFamily="34" charset="-120"/>
              </a:rPr>
              <a:t>Sauvegarde automatique</a:t>
            </a:r>
            <a:endParaRPr lang="en-US" sz="1500" dirty="0"/>
          </a:p>
        </p:txBody>
      </p:sp>
      <p:sp>
        <p:nvSpPr>
          <p:cNvPr id="9" name="Text 7"/>
          <p:cNvSpPr/>
          <p:nvPr/>
        </p:nvSpPr>
        <p:spPr>
          <a:xfrm>
            <a:off x="658368" y="2103120"/>
            <a:ext cx="5074920" cy="1115568"/>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Progression sauvegardée toutes les 30 secondes. Fermez et rouvrez — votre menu vous attend.</a:t>
            </a:r>
            <a:endParaRPr lang="en-US" sz="1200" dirty="0"/>
          </a:p>
        </p:txBody>
      </p:sp>
      <p:sp>
        <p:nvSpPr>
          <p:cNvPr id="10" name="Shape 8"/>
          <p:cNvSpPr/>
          <p:nvPr/>
        </p:nvSpPr>
        <p:spPr>
          <a:xfrm>
            <a:off x="6263640" y="1353312"/>
            <a:ext cx="5440680" cy="201168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11" name="Shape 9"/>
          <p:cNvSpPr/>
          <p:nvPr/>
        </p:nvSpPr>
        <p:spPr>
          <a:xfrm>
            <a:off x="6263640" y="1353312"/>
            <a:ext cx="64008" cy="2011680"/>
          </a:xfrm>
          <a:prstGeom prst="rect">
            <a:avLst/>
          </a:prstGeom>
          <a:solidFill>
            <a:srgbClr val="E8621A"/>
          </a:solidFill>
          <a:ln w="12700">
            <a:solidFill>
              <a:srgbClr val="E8621A"/>
            </a:solidFill>
            <a:prstDash val="solid"/>
          </a:ln>
        </p:spPr>
      </p:sp>
      <p:sp>
        <p:nvSpPr>
          <p:cNvPr id="12" name="Text 10"/>
          <p:cNvSpPr/>
          <p:nvPr/>
        </p:nvSpPr>
        <p:spPr>
          <a:xfrm>
            <a:off x="6464808" y="1554480"/>
            <a:ext cx="594360" cy="594360"/>
          </a:xfrm>
          <a:prstGeom prst="rect">
            <a:avLst/>
          </a:prstGeom>
          <a:noFill/>
          <a:ln/>
        </p:spPr>
        <p:txBody>
          <a:bodyPr wrap="square" lIns="0" tIns="0" rIns="0" bIns="0"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3" name="Text 11"/>
          <p:cNvSpPr/>
          <p:nvPr/>
        </p:nvSpPr>
        <p:spPr>
          <a:xfrm>
            <a:off x="7178040" y="1517904"/>
            <a:ext cx="4389120" cy="384048"/>
          </a:xfrm>
          <a:prstGeom prst="rect">
            <a:avLst/>
          </a:prstGeom>
          <a:noFill/>
          <a:ln/>
        </p:spPr>
        <p:txBody>
          <a:bodyPr wrap="square" lIns="0" tIns="0" rIns="0" bIns="0" rtlCol="0" anchor="ctr"/>
          <a:lstStyle/>
          <a:p>
            <a:pPr algn="l" indent="0" marL="0">
              <a:buNone/>
            </a:pPr>
            <a:r>
              <a:rPr lang="en-US" sz="1500" b="1" dirty="0">
                <a:solidFill>
                  <a:srgbClr val="1C1C1E"/>
                </a:solidFill>
                <a:latin typeface="Calibri" pitchFamily="34" charset="0"/>
                <a:ea typeface="Calibri" pitchFamily="34" charset="-122"/>
                <a:cs typeface="Calibri" pitchFamily="34" charset="-120"/>
              </a:rPr>
              <a:t>Exporter / Importer</a:t>
            </a:r>
            <a:endParaRPr lang="en-US" sz="1500" dirty="0"/>
          </a:p>
        </p:txBody>
      </p:sp>
      <p:sp>
        <p:nvSpPr>
          <p:cNvPr id="14" name="Text 12"/>
          <p:cNvSpPr/>
          <p:nvPr/>
        </p:nvSpPr>
        <p:spPr>
          <a:xfrm>
            <a:off x="6464808" y="2103120"/>
            <a:ext cx="5074920" cy="1115568"/>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Exportez le menu en fichier .json et envoyez à vos co-organisateurs. Ils importent et voient instantanément votre planification.</a:t>
            </a:r>
            <a:endParaRPr lang="en-US" sz="1200" dirty="0"/>
          </a:p>
        </p:txBody>
      </p:sp>
      <p:sp>
        <p:nvSpPr>
          <p:cNvPr id="15" name="Shape 13"/>
          <p:cNvSpPr/>
          <p:nvPr/>
        </p:nvSpPr>
        <p:spPr>
          <a:xfrm>
            <a:off x="457200" y="3566160"/>
            <a:ext cx="5440680" cy="201168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16" name="Shape 14"/>
          <p:cNvSpPr/>
          <p:nvPr/>
        </p:nvSpPr>
        <p:spPr>
          <a:xfrm>
            <a:off x="457200" y="3566160"/>
            <a:ext cx="64008" cy="2011680"/>
          </a:xfrm>
          <a:prstGeom prst="rect">
            <a:avLst/>
          </a:prstGeom>
          <a:solidFill>
            <a:srgbClr val="7C3AED"/>
          </a:solidFill>
          <a:ln w="12700">
            <a:solidFill>
              <a:srgbClr val="7C3AED"/>
            </a:solidFill>
            <a:prstDash val="solid"/>
          </a:ln>
        </p:spPr>
      </p:sp>
      <p:sp>
        <p:nvSpPr>
          <p:cNvPr id="17" name="Text 15"/>
          <p:cNvSpPr/>
          <p:nvPr/>
        </p:nvSpPr>
        <p:spPr>
          <a:xfrm>
            <a:off x="658368" y="3767328"/>
            <a:ext cx="594360" cy="594360"/>
          </a:xfrm>
          <a:prstGeom prst="rect">
            <a:avLst/>
          </a:prstGeom>
          <a:noFill/>
          <a:ln/>
        </p:spPr>
        <p:txBody>
          <a:bodyPr wrap="square" lIns="0" tIns="0" rIns="0" bIns="0"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8" name="Text 16"/>
          <p:cNvSpPr/>
          <p:nvPr/>
        </p:nvSpPr>
        <p:spPr>
          <a:xfrm>
            <a:off x="1371600" y="3730752"/>
            <a:ext cx="4389120" cy="384048"/>
          </a:xfrm>
          <a:prstGeom prst="rect">
            <a:avLst/>
          </a:prstGeom>
          <a:noFill/>
          <a:ln/>
        </p:spPr>
        <p:txBody>
          <a:bodyPr wrap="square" lIns="0" tIns="0" rIns="0" bIns="0" rtlCol="0" anchor="ctr"/>
          <a:lstStyle/>
          <a:p>
            <a:pPr algn="l" indent="0" marL="0">
              <a:buNone/>
            </a:pPr>
            <a:r>
              <a:rPr lang="en-US" sz="1500" b="1" dirty="0">
                <a:solidFill>
                  <a:srgbClr val="1C1C1E"/>
                </a:solidFill>
                <a:latin typeface="Calibri" pitchFamily="34" charset="0"/>
                <a:ea typeface="Calibri" pitchFamily="34" charset="-122"/>
                <a:cs typeface="Calibri" pitchFamily="34" charset="-120"/>
              </a:rPr>
              <a:t>Bibliothèque partagée</a:t>
            </a:r>
            <a:endParaRPr lang="en-US" sz="1500" dirty="0"/>
          </a:p>
        </p:txBody>
      </p:sp>
      <p:sp>
        <p:nvSpPr>
          <p:cNvPr id="19" name="Text 17"/>
          <p:cNvSpPr/>
          <p:nvPr/>
        </p:nvSpPr>
        <p:spPr>
          <a:xfrm>
            <a:off x="658368" y="4315968"/>
            <a:ext cx="5074920" cy="1115568"/>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Ajoutez une recette → visible par toute l'équipe en temps réel via Firebase. Modifiez, masquez ou supprimez à tout moment.</a:t>
            </a:r>
            <a:endParaRPr lang="en-US" sz="1200" dirty="0"/>
          </a:p>
        </p:txBody>
      </p:sp>
      <p:sp>
        <p:nvSpPr>
          <p:cNvPr id="20" name="Shape 18"/>
          <p:cNvSpPr/>
          <p:nvPr/>
        </p:nvSpPr>
        <p:spPr>
          <a:xfrm>
            <a:off x="6263640" y="3566160"/>
            <a:ext cx="5440680" cy="201168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21" name="Shape 19"/>
          <p:cNvSpPr/>
          <p:nvPr/>
        </p:nvSpPr>
        <p:spPr>
          <a:xfrm>
            <a:off x="6263640" y="3566160"/>
            <a:ext cx="64008" cy="2011680"/>
          </a:xfrm>
          <a:prstGeom prst="rect">
            <a:avLst/>
          </a:prstGeom>
          <a:solidFill>
            <a:srgbClr val="1D4ED8"/>
          </a:solidFill>
          <a:ln w="12700">
            <a:solidFill>
              <a:srgbClr val="1D4ED8"/>
            </a:solidFill>
            <a:prstDash val="solid"/>
          </a:ln>
        </p:spPr>
      </p:sp>
      <p:sp>
        <p:nvSpPr>
          <p:cNvPr id="22" name="Text 20"/>
          <p:cNvSpPr/>
          <p:nvPr/>
        </p:nvSpPr>
        <p:spPr>
          <a:xfrm>
            <a:off x="6464808" y="3767328"/>
            <a:ext cx="594360" cy="594360"/>
          </a:xfrm>
          <a:prstGeom prst="rect">
            <a:avLst/>
          </a:prstGeom>
          <a:noFill/>
          <a:ln/>
        </p:spPr>
        <p:txBody>
          <a:bodyPr wrap="square" lIns="0" tIns="0" rIns="0" bIns="0"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23" name="Text 21"/>
          <p:cNvSpPr/>
          <p:nvPr/>
        </p:nvSpPr>
        <p:spPr>
          <a:xfrm>
            <a:off x="7178040" y="3730752"/>
            <a:ext cx="4389120" cy="384048"/>
          </a:xfrm>
          <a:prstGeom prst="rect">
            <a:avLst/>
          </a:prstGeom>
          <a:noFill/>
          <a:ln/>
        </p:spPr>
        <p:txBody>
          <a:bodyPr wrap="square" lIns="0" tIns="0" rIns="0" bIns="0" rtlCol="0" anchor="ctr"/>
          <a:lstStyle/>
          <a:p>
            <a:pPr algn="l" indent="0" marL="0">
              <a:buNone/>
            </a:pPr>
            <a:r>
              <a:rPr lang="en-US" sz="1500" b="1" dirty="0">
                <a:solidFill>
                  <a:srgbClr val="1C1C1E"/>
                </a:solidFill>
                <a:latin typeface="Calibri" pitchFamily="34" charset="0"/>
                <a:ea typeface="Calibri" pitchFamily="34" charset="-122"/>
                <a:cs typeface="Calibri" pitchFamily="34" charset="-120"/>
              </a:rPr>
              <a:t>Mode hors-ligne</a:t>
            </a:r>
            <a:endParaRPr lang="en-US" sz="1500" dirty="0"/>
          </a:p>
        </p:txBody>
      </p:sp>
      <p:sp>
        <p:nvSpPr>
          <p:cNvPr id="24" name="Text 22"/>
          <p:cNvSpPr/>
          <p:nvPr/>
        </p:nvSpPr>
        <p:spPr>
          <a:xfrm>
            <a:off x="6464808" y="4315968"/>
            <a:ext cx="5074920" cy="1115568"/>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Fonctionne sans internet après la première visite. Idéal en pleine forêt, loin du Wi-Fi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EF9"/>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E8621A"/>
          </a:solidFill>
          <a:ln w="12700">
            <a:solidFill>
              <a:srgbClr val="E8621A"/>
            </a:solidFill>
            <a:prstDash val="solid"/>
          </a:ln>
        </p:spPr>
      </p:sp>
      <p:sp>
        <p:nvSpPr>
          <p:cNvPr id="3" name="Text 1"/>
          <p:cNvSpPr/>
          <p:nvPr/>
        </p:nvSpPr>
        <p:spPr>
          <a:xfrm>
            <a:off x="457200" y="201168"/>
            <a:ext cx="11247120" cy="594360"/>
          </a:xfrm>
          <a:prstGeom prst="rect">
            <a:avLst/>
          </a:prstGeom>
          <a:noFill/>
          <a:ln/>
        </p:spPr>
        <p:txBody>
          <a:bodyPr wrap="square" lIns="0" tIns="0" rIns="0" bIns="0" rtlCol="0" anchor="ctr"/>
          <a:lstStyle/>
          <a:p>
            <a:pPr algn="l" indent="0" marL="0">
              <a:buNone/>
            </a:pPr>
            <a:r>
              <a:rPr lang="en-US" sz="3200" b="1" dirty="0">
                <a:solidFill>
                  <a:srgbClr val="1C1C1E"/>
                </a:solidFill>
                <a:latin typeface="Georgia" pitchFamily="34" charset="0"/>
                <a:ea typeface="Georgia" pitchFamily="34" charset="-122"/>
                <a:cs typeface="Georgia" pitchFamily="34" charset="-120"/>
              </a:rPr>
              <a:t>Disponible partout</a:t>
            </a:r>
            <a:endParaRPr lang="en-US" sz="3200" dirty="0"/>
          </a:p>
        </p:txBody>
      </p:sp>
      <p:sp>
        <p:nvSpPr>
          <p:cNvPr id="4" name="Text 2"/>
          <p:cNvSpPr/>
          <p:nvPr/>
        </p:nvSpPr>
        <p:spPr>
          <a:xfrm>
            <a:off x="457200" y="777240"/>
            <a:ext cx="11247120" cy="347472"/>
          </a:xfrm>
          <a:prstGeom prst="rect">
            <a:avLst/>
          </a:prstGeom>
          <a:noFill/>
          <a:ln/>
        </p:spPr>
        <p:txBody>
          <a:bodyPr wrap="square" lIns="0" tIns="0" rIns="0" bIns="0" rtlCol="0" anchor="ctr"/>
          <a:lstStyle/>
          <a:p>
            <a:pPr algn="l" indent="0" marL="0">
              <a:buNone/>
            </a:pPr>
            <a:r>
              <a:rPr lang="en-US" sz="1500" dirty="0">
                <a:solidFill>
                  <a:srgbClr val="6B7280"/>
                </a:solidFill>
                <a:latin typeface="Calibri" pitchFamily="34" charset="0"/>
                <a:ea typeface="Calibri" pitchFamily="34" charset="-122"/>
                <a:cs typeface="Calibri" pitchFamily="34" charset="-120"/>
              </a:rPr>
              <a:t>Choisissez selon votre contexte</a:t>
            </a:r>
            <a:endParaRPr lang="en-US" sz="1500" dirty="0"/>
          </a:p>
        </p:txBody>
      </p:sp>
      <p:sp>
        <p:nvSpPr>
          <p:cNvPr id="5" name="Shape 3"/>
          <p:cNvSpPr/>
          <p:nvPr/>
        </p:nvSpPr>
        <p:spPr>
          <a:xfrm>
            <a:off x="457200" y="1353312"/>
            <a:ext cx="5440680" cy="521208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457200" y="1353312"/>
            <a:ext cx="5440680" cy="73152"/>
          </a:xfrm>
          <a:prstGeom prst="rect">
            <a:avLst/>
          </a:prstGeom>
          <a:solidFill>
            <a:srgbClr val="E8621A"/>
          </a:solidFill>
          <a:ln w="12700">
            <a:solidFill>
              <a:srgbClr val="E8621A"/>
            </a:solidFill>
            <a:prstDash val="solid"/>
          </a:ln>
        </p:spPr>
      </p:sp>
      <p:sp>
        <p:nvSpPr>
          <p:cNvPr id="7" name="Text 5"/>
          <p:cNvSpPr/>
          <p:nvPr/>
        </p:nvSpPr>
        <p:spPr>
          <a:xfrm>
            <a:off x="457200" y="1517904"/>
            <a:ext cx="5440680" cy="822960"/>
          </a:xfrm>
          <a:prstGeom prst="rect">
            <a:avLst/>
          </a:prstGeom>
          <a:noFill/>
          <a:ln/>
        </p:spPr>
        <p:txBody>
          <a:bodyPr wrap="square" lIns="0" tIns="0" rIns="0" bIns="0" rtlCol="0" anchor="ctr"/>
          <a:lstStyle/>
          <a:p>
            <a:pPr algn="ctr" indent="0" marL="0">
              <a:buNone/>
            </a:pPr>
            <a:r>
              <a:rPr lang="en-US" sz="4800" dirty="0">
                <a:solidFill>
                  <a:srgbClr val="000000"/>
                </a:solidFill>
                <a:latin typeface="Calibri" pitchFamily="34" charset="0"/>
                <a:ea typeface="Calibri" pitchFamily="34" charset="-122"/>
                <a:cs typeface="Calibri" pitchFamily="34" charset="-120"/>
              </a:rPr>
              <a:t>💻</a:t>
            </a:r>
            <a:endParaRPr lang="en-US" sz="4800" dirty="0"/>
          </a:p>
        </p:txBody>
      </p:sp>
      <p:sp>
        <p:nvSpPr>
          <p:cNvPr id="8" name="Text 6"/>
          <p:cNvSpPr/>
          <p:nvPr/>
        </p:nvSpPr>
        <p:spPr>
          <a:xfrm>
            <a:off x="640080" y="2432304"/>
            <a:ext cx="5074920" cy="457200"/>
          </a:xfrm>
          <a:prstGeom prst="rect">
            <a:avLst/>
          </a:prstGeom>
          <a:noFill/>
          <a:ln/>
        </p:spPr>
        <p:txBody>
          <a:bodyPr wrap="square" lIns="0" tIns="0" rIns="0" bIns="0" rtlCol="0" anchor="ctr"/>
          <a:lstStyle/>
          <a:p>
            <a:pPr algn="ctr" indent="0" marL="0">
              <a:buNone/>
            </a:pPr>
            <a:r>
              <a:rPr lang="en-US" sz="1800" b="1" dirty="0">
                <a:solidFill>
                  <a:srgbClr val="1C1C1E"/>
                </a:solidFill>
                <a:latin typeface="Georgia" pitchFamily="34" charset="0"/>
                <a:ea typeface="Georgia" pitchFamily="34" charset="-122"/>
                <a:cs typeface="Georgia" pitchFamily="34" charset="-120"/>
              </a:rPr>
              <a:t>Application Desktop</a:t>
            </a:r>
            <a:endParaRPr lang="en-US" sz="1800" dirty="0"/>
          </a:p>
        </p:txBody>
      </p:sp>
      <p:sp>
        <p:nvSpPr>
          <p:cNvPr id="9" name="Text 7"/>
          <p:cNvSpPr/>
          <p:nvPr/>
        </p:nvSpPr>
        <p:spPr>
          <a:xfrm>
            <a:off x="640080" y="2889504"/>
            <a:ext cx="5074920" cy="320040"/>
          </a:xfrm>
          <a:prstGeom prst="rect">
            <a:avLst/>
          </a:prstGeom>
          <a:noFill/>
          <a:ln/>
        </p:spPr>
        <p:txBody>
          <a:bodyPr wrap="square" lIns="0" tIns="0" rIns="0" bIns="0"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Windows + Mac</a:t>
            </a:r>
            <a:endParaRPr lang="en-US" sz="1300" dirty="0"/>
          </a:p>
        </p:txBody>
      </p:sp>
      <p:sp>
        <p:nvSpPr>
          <p:cNvPr id="10" name="Text 8"/>
          <p:cNvSpPr/>
          <p:nvPr/>
        </p:nvSpPr>
        <p:spPr>
          <a:xfrm>
            <a:off x="731520" y="3346704"/>
            <a:ext cx="4892040" cy="1920240"/>
          </a:xfrm>
          <a:prstGeom prst="rect">
            <a:avLst/>
          </a:prstGeom>
          <a:noFill/>
          <a:ln/>
        </p:spPr>
        <p:txBody>
          <a:bodyPr wrap="square" rtlCol="0" anchor="ctr"/>
          <a:lstStyle/>
          <a:p>
            <a:pPr algn="l" indent="0" marL="0">
              <a:buNone/>
            </a:pPr>
            <a:r>
              <a:rPr lang="en-US" sz="1300" dirty="0">
                <a:solidFill>
                  <a:srgbClr val="1C1C1E"/>
                </a:solidFill>
                <a:latin typeface="Calibri" pitchFamily="34" charset="0"/>
                <a:ea typeface="Calibri" pitchFamily="34" charset="-122"/>
                <a:cs typeface="Calibri" pitchFamily="34" charset="-120"/>
              </a:rPr>
              <a:t>✅  Mises à jour automatiques</a:t>
            </a:r>
            <a:endParaRPr lang="en-US" sz="1300" dirty="0"/>
          </a:p>
          <a:p>
            <a:pPr algn="l" indent="0" marL="0">
              <a:buNone/>
            </a:pPr>
            <a:r>
              <a:rPr lang="en-US" sz="1300" dirty="0">
                <a:solidFill>
                  <a:srgbClr val="1C1C1E"/>
                </a:solidFill>
                <a:latin typeface="Calibri" pitchFamily="34" charset="0"/>
                <a:ea typeface="Calibri" pitchFamily="34" charset="-122"/>
                <a:cs typeface="Calibri" pitchFamily="34" charset="-120"/>
              </a:rPr>
              <a:t>✅  Fonctionne hors-ligne</a:t>
            </a:r>
            <a:endParaRPr lang="en-US" sz="1300" dirty="0"/>
          </a:p>
          <a:p>
            <a:pPr algn="l" indent="0" marL="0">
              <a:buNone/>
            </a:pPr>
            <a:r>
              <a:rPr lang="en-US" sz="1300" dirty="0">
                <a:solidFill>
                  <a:srgbClr val="1C1C1E"/>
                </a:solidFill>
                <a:latin typeface="Calibri" pitchFamily="34" charset="0"/>
                <a:ea typeface="Calibri" pitchFamily="34" charset="-122"/>
                <a:cs typeface="Calibri" pitchFamily="34" charset="-120"/>
              </a:rPr>
              <a:t>✅  Idéal pour la planification</a:t>
            </a:r>
            <a:endParaRPr lang="en-US" sz="1300" dirty="0"/>
          </a:p>
          <a:p>
            <a:pPr algn="l" indent="0" marL="0">
              <a:buNone/>
            </a:pPr>
            <a:r>
              <a:rPr lang="en-US" sz="1300" dirty="0">
                <a:solidFill>
                  <a:srgbClr val="1C1C1E"/>
                </a:solidFill>
                <a:latin typeface="Calibri" pitchFamily="34" charset="0"/>
                <a:ea typeface="Calibri" pitchFamily="34" charset="-122"/>
                <a:cs typeface="Calibri" pitchFamily="34" charset="-120"/>
              </a:rPr>
              <a:t>✅  Grille calendrier complète</a:t>
            </a:r>
            <a:endParaRPr lang="en-US" sz="1300" dirty="0"/>
          </a:p>
          <a:p>
            <a:pPr algn="l" indent="0" marL="0">
              <a:buNone/>
            </a:pPr>
            <a:r>
              <a:rPr lang="en-US" sz="1300" dirty="0">
                <a:solidFill>
                  <a:srgbClr val="1C1C1E"/>
                </a:solidFill>
                <a:latin typeface="Calibri" pitchFamily="34" charset="0"/>
                <a:ea typeface="Calibri" pitchFamily="34" charset="-122"/>
                <a:cs typeface="Calibri" pitchFamily="34" charset="-120"/>
              </a:rPr>
              <a:t>✅  Interface souris &amp; clavier optimisée</a:t>
            </a:r>
            <a:endParaRPr lang="en-US" sz="1300" dirty="0"/>
          </a:p>
        </p:txBody>
      </p:sp>
      <p:sp>
        <p:nvSpPr>
          <p:cNvPr id="11" name="Shape 9"/>
          <p:cNvSpPr/>
          <p:nvPr/>
        </p:nvSpPr>
        <p:spPr>
          <a:xfrm>
            <a:off x="731520" y="5376672"/>
            <a:ext cx="4892040" cy="1005840"/>
          </a:xfrm>
          <a:prstGeom prst="rect">
            <a:avLst/>
          </a:prstGeom>
          <a:solidFill>
            <a:srgbClr val="E5E0D5">
              <a:alpha val="60000"/>
            </a:srgbClr>
          </a:solidFill>
          <a:ln w="12700">
            <a:solidFill>
              <a:srgbClr val="6B7280"/>
            </a:solidFill>
            <a:prstDash val="dash"/>
          </a:ln>
        </p:spPr>
      </p:sp>
      <p:sp>
        <p:nvSpPr>
          <p:cNvPr id="12" name="Text 10"/>
          <p:cNvSpPr/>
          <p:nvPr/>
        </p:nvSpPr>
        <p:spPr>
          <a:xfrm>
            <a:off x="731520" y="5376672"/>
            <a:ext cx="4892040" cy="100584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Capture desktop ]</a:t>
            </a:r>
            <a:endParaRPr lang="en-US" sz="1200" dirty="0"/>
          </a:p>
        </p:txBody>
      </p:sp>
      <p:sp>
        <p:nvSpPr>
          <p:cNvPr id="13" name="Shape 11"/>
          <p:cNvSpPr/>
          <p:nvPr/>
        </p:nvSpPr>
        <p:spPr>
          <a:xfrm>
            <a:off x="6263640" y="1353312"/>
            <a:ext cx="5440680" cy="521208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14" name="Shape 12"/>
          <p:cNvSpPr/>
          <p:nvPr/>
        </p:nvSpPr>
        <p:spPr>
          <a:xfrm>
            <a:off x="6263640" y="1353312"/>
            <a:ext cx="5440680" cy="73152"/>
          </a:xfrm>
          <a:prstGeom prst="rect">
            <a:avLst/>
          </a:prstGeom>
          <a:solidFill>
            <a:srgbClr val="2D6A4F"/>
          </a:solidFill>
          <a:ln w="12700">
            <a:solidFill>
              <a:srgbClr val="2D6A4F"/>
            </a:solidFill>
            <a:prstDash val="solid"/>
          </a:ln>
        </p:spPr>
      </p:sp>
      <p:sp>
        <p:nvSpPr>
          <p:cNvPr id="15" name="Text 13"/>
          <p:cNvSpPr/>
          <p:nvPr/>
        </p:nvSpPr>
        <p:spPr>
          <a:xfrm>
            <a:off x="6263640" y="1517904"/>
            <a:ext cx="5440680" cy="822960"/>
          </a:xfrm>
          <a:prstGeom prst="rect">
            <a:avLst/>
          </a:prstGeom>
          <a:noFill/>
          <a:ln/>
        </p:spPr>
        <p:txBody>
          <a:bodyPr wrap="square" lIns="0" tIns="0" rIns="0" bIns="0" rtlCol="0" anchor="ctr"/>
          <a:lstStyle/>
          <a:p>
            <a:pPr algn="ctr" indent="0" marL="0">
              <a:buNone/>
            </a:pPr>
            <a:r>
              <a:rPr lang="en-US" sz="4800" dirty="0">
                <a:solidFill>
                  <a:srgbClr val="000000"/>
                </a:solidFill>
                <a:latin typeface="Calibri" pitchFamily="34" charset="0"/>
                <a:ea typeface="Calibri" pitchFamily="34" charset="-122"/>
                <a:cs typeface="Calibri" pitchFamily="34" charset="-120"/>
              </a:rPr>
              <a:t>📱</a:t>
            </a:r>
            <a:endParaRPr lang="en-US" sz="4800" dirty="0"/>
          </a:p>
        </p:txBody>
      </p:sp>
      <p:sp>
        <p:nvSpPr>
          <p:cNvPr id="16" name="Text 14"/>
          <p:cNvSpPr/>
          <p:nvPr/>
        </p:nvSpPr>
        <p:spPr>
          <a:xfrm>
            <a:off x="6446520" y="2432304"/>
            <a:ext cx="5074920" cy="457200"/>
          </a:xfrm>
          <a:prstGeom prst="rect">
            <a:avLst/>
          </a:prstGeom>
          <a:noFill/>
          <a:ln/>
        </p:spPr>
        <p:txBody>
          <a:bodyPr wrap="square" lIns="0" tIns="0" rIns="0" bIns="0" rtlCol="0" anchor="ctr"/>
          <a:lstStyle/>
          <a:p>
            <a:pPr algn="ctr" indent="0" marL="0">
              <a:buNone/>
            </a:pPr>
            <a:r>
              <a:rPr lang="en-US" sz="1800" b="1" dirty="0">
                <a:solidFill>
                  <a:srgbClr val="1C1C1E"/>
                </a:solidFill>
                <a:latin typeface="Georgia" pitchFamily="34" charset="0"/>
                <a:ea typeface="Georgia" pitchFamily="34" charset="-122"/>
                <a:cs typeface="Georgia" pitchFamily="34" charset="-120"/>
              </a:rPr>
              <a:t>Web / Mobile</a:t>
            </a:r>
            <a:endParaRPr lang="en-US" sz="1800" dirty="0"/>
          </a:p>
        </p:txBody>
      </p:sp>
      <p:sp>
        <p:nvSpPr>
          <p:cNvPr id="17" name="Text 15"/>
          <p:cNvSpPr/>
          <p:nvPr/>
        </p:nvSpPr>
        <p:spPr>
          <a:xfrm>
            <a:off x="6446520" y="2889504"/>
            <a:ext cx="5074920" cy="320040"/>
          </a:xfrm>
          <a:prstGeom prst="rect">
            <a:avLst/>
          </a:prstGeom>
          <a:noFill/>
          <a:ln/>
        </p:spPr>
        <p:txBody>
          <a:bodyPr wrap="square" lIns="0" tIns="0" rIns="0" bIns="0"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Tout navigateur, tout téléphone</a:t>
            </a:r>
            <a:endParaRPr lang="en-US" sz="1300" dirty="0"/>
          </a:p>
        </p:txBody>
      </p:sp>
      <p:sp>
        <p:nvSpPr>
          <p:cNvPr id="18" name="Text 16"/>
          <p:cNvSpPr/>
          <p:nvPr/>
        </p:nvSpPr>
        <p:spPr>
          <a:xfrm>
            <a:off x="6537960" y="3346704"/>
            <a:ext cx="4892040" cy="1920240"/>
          </a:xfrm>
          <a:prstGeom prst="rect">
            <a:avLst/>
          </a:prstGeom>
          <a:noFill/>
          <a:ln/>
        </p:spPr>
        <p:txBody>
          <a:bodyPr wrap="square" rtlCol="0" anchor="ctr"/>
          <a:lstStyle/>
          <a:p>
            <a:pPr algn="l" indent="0" marL="0">
              <a:buNone/>
            </a:pPr>
            <a:r>
              <a:rPr lang="en-US" sz="1300" dirty="0">
                <a:solidFill>
                  <a:srgbClr val="1C1C1E"/>
                </a:solidFill>
                <a:latin typeface="Calibri" pitchFamily="34" charset="0"/>
                <a:ea typeface="Calibri" pitchFamily="34" charset="-122"/>
                <a:cs typeface="Calibri" pitchFamily="34" charset="-120"/>
              </a:rPr>
              <a:t>✅  Aucune installation requise</a:t>
            </a:r>
            <a:endParaRPr lang="en-US" sz="1300" dirty="0"/>
          </a:p>
          <a:p>
            <a:pPr algn="l" indent="0" marL="0">
              <a:buNone/>
            </a:pPr>
            <a:r>
              <a:rPr lang="en-US" sz="1300" dirty="0">
                <a:solidFill>
                  <a:srgbClr val="1C1C1E"/>
                </a:solidFill>
                <a:latin typeface="Calibri" pitchFamily="34" charset="0"/>
                <a:ea typeface="Calibri" pitchFamily="34" charset="-122"/>
                <a:cs typeface="Calibri" pitchFamily="34" charset="-120"/>
              </a:rPr>
              <a:t>✅  Fonctionne hors-ligne (après 1ère visite)</a:t>
            </a:r>
            <a:endParaRPr lang="en-US" sz="1300" dirty="0"/>
          </a:p>
          <a:p>
            <a:pPr algn="l" indent="0" marL="0">
              <a:buNone/>
            </a:pPr>
            <a:r>
              <a:rPr lang="en-US" sz="1300" dirty="0">
                <a:solidFill>
                  <a:srgbClr val="1C1C1E"/>
                </a:solidFill>
                <a:latin typeface="Calibri" pitchFamily="34" charset="0"/>
                <a:ea typeface="Calibri" pitchFamily="34" charset="-122"/>
                <a:cs typeface="Calibri" pitchFamily="34" charset="-120"/>
              </a:rPr>
              <a:t>✅  Idéal pour consulter au camp</a:t>
            </a:r>
            <a:endParaRPr lang="en-US" sz="1300" dirty="0"/>
          </a:p>
          <a:p>
            <a:pPr algn="l" indent="0" marL="0">
              <a:buNone/>
            </a:pPr>
            <a:r>
              <a:rPr lang="en-US" sz="1300" dirty="0">
                <a:solidFill>
                  <a:srgbClr val="1C1C1E"/>
                </a:solidFill>
                <a:latin typeface="Calibri" pitchFamily="34" charset="0"/>
                <a:ea typeface="Calibri" pitchFamily="34" charset="-122"/>
                <a:cs typeface="Calibri" pitchFamily="34" charset="-120"/>
              </a:rPr>
              <a:t>✅  Installe sur l'écran d'accueil</a:t>
            </a:r>
            <a:endParaRPr lang="en-US" sz="1300" dirty="0"/>
          </a:p>
          <a:p>
            <a:pPr algn="l" indent="0" marL="0">
              <a:buNone/>
            </a:pPr>
            <a:r>
              <a:rPr lang="en-US" sz="1300" dirty="0">
                <a:solidFill>
                  <a:srgbClr val="1C1C1E"/>
                </a:solidFill>
                <a:latin typeface="Calibri" pitchFamily="34" charset="0"/>
                <a:ea typeface="Calibri" pitchFamily="34" charset="-122"/>
                <a:cs typeface="Calibri" pitchFamily="34" charset="-120"/>
              </a:rPr>
              <a:t>✅  Mises à jour silencieuses automatiques</a:t>
            </a:r>
            <a:endParaRPr lang="en-US" sz="1300" dirty="0"/>
          </a:p>
        </p:txBody>
      </p:sp>
      <p:sp>
        <p:nvSpPr>
          <p:cNvPr id="19" name="Shape 17"/>
          <p:cNvSpPr/>
          <p:nvPr/>
        </p:nvSpPr>
        <p:spPr>
          <a:xfrm>
            <a:off x="6537960" y="5376672"/>
            <a:ext cx="4892040" cy="1005840"/>
          </a:xfrm>
          <a:prstGeom prst="rect">
            <a:avLst/>
          </a:prstGeom>
          <a:solidFill>
            <a:srgbClr val="E5E0D5">
              <a:alpha val="60000"/>
            </a:srgbClr>
          </a:solidFill>
          <a:ln w="12700">
            <a:solidFill>
              <a:srgbClr val="6B7280"/>
            </a:solidFill>
            <a:prstDash val="dash"/>
          </a:ln>
        </p:spPr>
      </p:sp>
      <p:sp>
        <p:nvSpPr>
          <p:cNvPr id="20" name="Text 18"/>
          <p:cNvSpPr/>
          <p:nvPr/>
        </p:nvSpPr>
        <p:spPr>
          <a:xfrm>
            <a:off x="6537960" y="5376672"/>
            <a:ext cx="4892040" cy="100584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 Capture mobile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EF9"/>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E8621A"/>
          </a:solidFill>
          <a:ln w="12700">
            <a:solidFill>
              <a:srgbClr val="E8621A"/>
            </a:solidFill>
            <a:prstDash val="solid"/>
          </a:ln>
        </p:spPr>
      </p:sp>
      <p:sp>
        <p:nvSpPr>
          <p:cNvPr id="3" name="Text 1"/>
          <p:cNvSpPr/>
          <p:nvPr/>
        </p:nvSpPr>
        <p:spPr>
          <a:xfrm>
            <a:off x="457200" y="182880"/>
            <a:ext cx="11247120" cy="566928"/>
          </a:xfrm>
          <a:prstGeom prst="rect">
            <a:avLst/>
          </a:prstGeom>
          <a:noFill/>
          <a:ln/>
        </p:spPr>
        <p:txBody>
          <a:bodyPr wrap="square" lIns="0" tIns="0" rIns="0" bIns="0" rtlCol="0" anchor="ctr"/>
          <a:lstStyle/>
          <a:p>
            <a:pPr algn="l" indent="0" marL="0">
              <a:buNone/>
            </a:pPr>
            <a:r>
              <a:rPr lang="en-US" sz="3200" b="1" dirty="0">
                <a:solidFill>
                  <a:srgbClr val="1C1C1E"/>
                </a:solidFill>
                <a:latin typeface="Georgia" pitchFamily="34" charset="0"/>
                <a:ea typeface="Georgia" pitchFamily="34" charset="-122"/>
                <a:cs typeface="Georgia" pitchFamily="34" charset="-120"/>
              </a:rPr>
              <a:t>Prêt à commencer ? 🚀</a:t>
            </a:r>
            <a:endParaRPr lang="en-US" sz="3200" dirty="0"/>
          </a:p>
        </p:txBody>
      </p:sp>
      <p:sp>
        <p:nvSpPr>
          <p:cNvPr id="4" name="Text 2"/>
          <p:cNvSpPr/>
          <p:nvPr/>
        </p:nvSpPr>
        <p:spPr>
          <a:xfrm>
            <a:off x="457200" y="731520"/>
            <a:ext cx="11247120" cy="347472"/>
          </a:xfrm>
          <a:prstGeom prst="rect">
            <a:avLst/>
          </a:prstGeom>
          <a:noFill/>
          <a:ln/>
        </p:spPr>
        <p:txBody>
          <a:bodyPr wrap="square" lIns="0" tIns="0" rIns="0" bIns="0" rtlCol="0" anchor="ctr"/>
          <a:lstStyle/>
          <a:p>
            <a:pPr algn="l" indent="0" marL="0">
              <a:buNone/>
            </a:pPr>
            <a:r>
              <a:rPr lang="en-US" sz="1500" dirty="0">
                <a:solidFill>
                  <a:srgbClr val="6B7280"/>
                </a:solidFill>
                <a:latin typeface="Calibri" pitchFamily="34" charset="0"/>
                <a:ea typeface="Calibri" pitchFamily="34" charset="-122"/>
                <a:cs typeface="Calibri" pitchFamily="34" charset="-120"/>
              </a:rPr>
              <a:t>Téléchargez selon votre appareil :</a:t>
            </a:r>
            <a:endParaRPr lang="en-US" sz="1500" dirty="0"/>
          </a:p>
        </p:txBody>
      </p:sp>
      <p:sp>
        <p:nvSpPr>
          <p:cNvPr id="5" name="Shape 3"/>
          <p:cNvSpPr/>
          <p:nvPr/>
        </p:nvSpPr>
        <p:spPr>
          <a:xfrm>
            <a:off x="502920" y="1261872"/>
            <a:ext cx="2651760" cy="342900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502920" y="1261872"/>
            <a:ext cx="2651760" cy="73152"/>
          </a:xfrm>
          <a:prstGeom prst="rect">
            <a:avLst/>
          </a:prstGeom>
          <a:solidFill>
            <a:srgbClr val="2D6A4F"/>
          </a:solidFill>
          <a:ln w="12700">
            <a:solidFill>
              <a:srgbClr val="2D6A4F"/>
            </a:solidFill>
            <a:prstDash val="solid"/>
          </a:ln>
        </p:spPr>
      </p:sp>
      <p:sp>
        <p:nvSpPr>
          <p:cNvPr id="7" name="Text 5"/>
          <p:cNvSpPr/>
          <p:nvPr/>
        </p:nvSpPr>
        <p:spPr>
          <a:xfrm>
            <a:off x="502920" y="1408176"/>
            <a:ext cx="2651760" cy="713232"/>
          </a:xfrm>
          <a:prstGeom prst="rect">
            <a:avLst/>
          </a:prstGeom>
          <a:noFill/>
          <a:ln/>
        </p:spPr>
        <p:txBody>
          <a:bodyPr wrap="square" lIns="0" tIns="0" rIns="0" bIns="0" rtlCol="0" anchor="ctr"/>
          <a:lstStyle/>
          <a:p>
            <a:pPr algn="ctr" indent="0" marL="0">
              <a:buNone/>
            </a:pPr>
            <a:r>
              <a:rPr lang="en-US" sz="3800" dirty="0">
                <a:solidFill>
                  <a:srgbClr val="000000"/>
                </a:solidFill>
                <a:latin typeface="Calibri" pitchFamily="34" charset="0"/>
                <a:ea typeface="Calibri" pitchFamily="34" charset="-122"/>
                <a:cs typeface="Calibri" pitchFamily="34" charset="-120"/>
              </a:rPr>
              <a:t>🌐</a:t>
            </a:r>
            <a:endParaRPr lang="en-US" sz="3800" dirty="0"/>
          </a:p>
        </p:txBody>
      </p:sp>
      <p:sp>
        <p:nvSpPr>
          <p:cNvPr id="8" name="Text 6"/>
          <p:cNvSpPr/>
          <p:nvPr/>
        </p:nvSpPr>
        <p:spPr>
          <a:xfrm>
            <a:off x="594360" y="2157984"/>
            <a:ext cx="2468880" cy="402336"/>
          </a:xfrm>
          <a:prstGeom prst="rect">
            <a:avLst/>
          </a:prstGeom>
          <a:noFill/>
          <a:ln/>
        </p:spPr>
        <p:txBody>
          <a:bodyPr wrap="square" lIns="0" tIns="0" rIns="0" bIns="0" rtlCol="0" anchor="ctr"/>
          <a:lstStyle/>
          <a:p>
            <a:pPr algn="ctr" indent="0" marL="0">
              <a:buNone/>
            </a:pPr>
            <a:r>
              <a:rPr lang="en-US" sz="1300" b="1" dirty="0">
                <a:solidFill>
                  <a:srgbClr val="1C1C1E"/>
                </a:solidFill>
                <a:latin typeface="Calibri" pitchFamily="34" charset="0"/>
                <a:ea typeface="Calibri" pitchFamily="34" charset="-122"/>
                <a:cs typeface="Calibri" pitchFamily="34" charset="-120"/>
              </a:rPr>
              <a:t>Web / Mobile</a:t>
            </a:r>
            <a:endParaRPr lang="en-US" sz="1300" dirty="0"/>
          </a:p>
        </p:txBody>
      </p:sp>
      <p:sp>
        <p:nvSpPr>
          <p:cNvPr id="9" name="Text 7"/>
          <p:cNvSpPr/>
          <p:nvPr/>
        </p:nvSpPr>
        <p:spPr>
          <a:xfrm>
            <a:off x="594360" y="2560320"/>
            <a:ext cx="246888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Tout appareil, tout navigateur</a:t>
            </a:r>
            <a:endParaRPr lang="en-US" sz="1100" dirty="0"/>
          </a:p>
        </p:txBody>
      </p:sp>
      <p:sp>
        <p:nvSpPr>
          <p:cNvPr id="10" name="Shape 8"/>
          <p:cNvSpPr/>
          <p:nvPr/>
        </p:nvSpPr>
        <p:spPr>
          <a:xfrm>
            <a:off x="594360" y="2999232"/>
            <a:ext cx="2468880" cy="502920"/>
          </a:xfrm>
          <a:prstGeom prst="rect">
            <a:avLst/>
          </a:prstGeom>
          <a:solidFill>
            <a:srgbClr val="1C1C1E"/>
          </a:solidFill>
          <a:ln w="12700">
            <a:solidFill>
              <a:srgbClr val="1C1C1E"/>
            </a:solidFill>
            <a:prstDash val="solid"/>
          </a:ln>
        </p:spPr>
      </p:sp>
      <p:sp>
        <p:nvSpPr>
          <p:cNvPr id="11" name="Text 9"/>
          <p:cNvSpPr/>
          <p:nvPr/>
        </p:nvSpPr>
        <p:spPr>
          <a:xfrm>
            <a:off x="594360" y="2999232"/>
            <a:ext cx="2468880" cy="502920"/>
          </a:xfrm>
          <a:prstGeom prst="rect">
            <a:avLst/>
          </a:prstGeom>
          <a:noFill/>
          <a:ln/>
        </p:spPr>
        <p:txBody>
          <a:bodyPr wrap="square" lIns="0" tIns="0" rIns="0" bIns="0" rtlCol="0" anchor="ctr"/>
          <a:lstStyle/>
          <a:p>
            <a:pPr algn="ctr" indent="0" marL="0">
              <a:buNone/>
            </a:pPr>
            <a:r>
              <a:rPr lang="en-US" sz="900" b="1" dirty="0">
                <a:solidFill>
                  <a:srgbClr val="5AF078"/>
                </a:solidFill>
                <a:latin typeface="Consolas" pitchFamily="34" charset="0"/>
                <a:ea typeface="Consolas" pitchFamily="34" charset="-122"/>
                <a:cs typeface="Consolas" pitchFamily="34" charset="-120"/>
              </a:rPr>
              <a:t>menu-246.netlify.app</a:t>
            </a:r>
            <a:endParaRPr lang="en-US" sz="900" dirty="0"/>
          </a:p>
        </p:txBody>
      </p:sp>
      <p:sp>
        <p:nvSpPr>
          <p:cNvPr id="12" name="Text 10"/>
          <p:cNvSpPr/>
          <p:nvPr/>
        </p:nvSpPr>
        <p:spPr>
          <a:xfrm>
            <a:off x="594360" y="3639312"/>
            <a:ext cx="2468880" cy="32004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Ouvrir dans le navigateur</a:t>
            </a:r>
            <a:endParaRPr lang="en-US" sz="1000" dirty="0"/>
          </a:p>
        </p:txBody>
      </p:sp>
      <p:sp>
        <p:nvSpPr>
          <p:cNvPr id="13" name="Shape 11"/>
          <p:cNvSpPr/>
          <p:nvPr/>
        </p:nvSpPr>
        <p:spPr>
          <a:xfrm>
            <a:off x="3337560" y="1261872"/>
            <a:ext cx="2651760" cy="342900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14" name="Shape 12"/>
          <p:cNvSpPr/>
          <p:nvPr/>
        </p:nvSpPr>
        <p:spPr>
          <a:xfrm>
            <a:off x="3337560" y="1261872"/>
            <a:ext cx="2651760" cy="73152"/>
          </a:xfrm>
          <a:prstGeom prst="rect">
            <a:avLst/>
          </a:prstGeom>
          <a:solidFill>
            <a:srgbClr val="E8621A"/>
          </a:solidFill>
          <a:ln w="12700">
            <a:solidFill>
              <a:srgbClr val="E8621A"/>
            </a:solidFill>
            <a:prstDash val="solid"/>
          </a:ln>
        </p:spPr>
      </p:sp>
      <p:sp>
        <p:nvSpPr>
          <p:cNvPr id="15" name="Text 13"/>
          <p:cNvSpPr/>
          <p:nvPr/>
        </p:nvSpPr>
        <p:spPr>
          <a:xfrm>
            <a:off x="3337560" y="1408176"/>
            <a:ext cx="2651760" cy="713232"/>
          </a:xfrm>
          <a:prstGeom prst="rect">
            <a:avLst/>
          </a:prstGeom>
          <a:noFill/>
          <a:ln/>
        </p:spPr>
        <p:txBody>
          <a:bodyPr wrap="square" lIns="0" tIns="0" rIns="0" bIns="0" rtlCol="0" anchor="ctr"/>
          <a:lstStyle/>
          <a:p>
            <a:pPr algn="ctr" indent="0" marL="0">
              <a:buNone/>
            </a:pPr>
            <a:r>
              <a:rPr lang="en-US" sz="3800" dirty="0">
                <a:solidFill>
                  <a:srgbClr val="000000"/>
                </a:solidFill>
                <a:latin typeface="Calibri" pitchFamily="34" charset="0"/>
                <a:ea typeface="Calibri" pitchFamily="34" charset="-122"/>
                <a:cs typeface="Calibri" pitchFamily="34" charset="-120"/>
              </a:rPr>
              <a:t>🪟</a:t>
            </a:r>
            <a:endParaRPr lang="en-US" sz="3800" dirty="0"/>
          </a:p>
        </p:txBody>
      </p:sp>
      <p:sp>
        <p:nvSpPr>
          <p:cNvPr id="16" name="Text 14"/>
          <p:cNvSpPr/>
          <p:nvPr/>
        </p:nvSpPr>
        <p:spPr>
          <a:xfrm>
            <a:off x="3429000" y="2157984"/>
            <a:ext cx="2468880" cy="402336"/>
          </a:xfrm>
          <a:prstGeom prst="rect">
            <a:avLst/>
          </a:prstGeom>
          <a:noFill/>
          <a:ln/>
        </p:spPr>
        <p:txBody>
          <a:bodyPr wrap="square" lIns="0" tIns="0" rIns="0" bIns="0" rtlCol="0" anchor="ctr"/>
          <a:lstStyle/>
          <a:p>
            <a:pPr algn="ctr" indent="0" marL="0">
              <a:buNone/>
            </a:pPr>
            <a:r>
              <a:rPr lang="en-US" sz="1300" b="1" dirty="0">
                <a:solidFill>
                  <a:srgbClr val="1C1C1E"/>
                </a:solidFill>
                <a:latin typeface="Calibri" pitchFamily="34" charset="0"/>
                <a:ea typeface="Calibri" pitchFamily="34" charset="-122"/>
                <a:cs typeface="Calibri" pitchFamily="34" charset="-120"/>
              </a:rPr>
              <a:t>Windows</a:t>
            </a:r>
            <a:endParaRPr lang="en-US" sz="1300" dirty="0"/>
          </a:p>
        </p:txBody>
      </p:sp>
      <p:sp>
        <p:nvSpPr>
          <p:cNvPr id="17" name="Text 15"/>
          <p:cNvSpPr/>
          <p:nvPr/>
        </p:nvSpPr>
        <p:spPr>
          <a:xfrm>
            <a:off x="3429000" y="2560320"/>
            <a:ext cx="246888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PC Windows 10 ou 11</a:t>
            </a:r>
            <a:endParaRPr lang="en-US" sz="1100" dirty="0"/>
          </a:p>
        </p:txBody>
      </p:sp>
      <p:sp>
        <p:nvSpPr>
          <p:cNvPr id="18" name="Shape 16"/>
          <p:cNvSpPr/>
          <p:nvPr/>
        </p:nvSpPr>
        <p:spPr>
          <a:xfrm>
            <a:off x="3429000" y="2999232"/>
            <a:ext cx="2468880" cy="502920"/>
          </a:xfrm>
          <a:prstGeom prst="rect">
            <a:avLst/>
          </a:prstGeom>
          <a:solidFill>
            <a:srgbClr val="1C1C1E"/>
          </a:solidFill>
          <a:ln w="12700">
            <a:solidFill>
              <a:srgbClr val="1C1C1E"/>
            </a:solidFill>
            <a:prstDash val="solid"/>
          </a:ln>
        </p:spPr>
      </p:sp>
      <p:sp>
        <p:nvSpPr>
          <p:cNvPr id="19" name="Text 17"/>
          <p:cNvSpPr/>
          <p:nvPr/>
        </p:nvSpPr>
        <p:spPr>
          <a:xfrm>
            <a:off x="3429000" y="2999232"/>
            <a:ext cx="2468880" cy="502920"/>
          </a:xfrm>
          <a:prstGeom prst="rect">
            <a:avLst/>
          </a:prstGeom>
          <a:noFill/>
          <a:ln/>
        </p:spPr>
        <p:txBody>
          <a:bodyPr wrap="square" lIns="0" tIns="0" rIns="0" bIns="0" rtlCol="0" anchor="ctr"/>
          <a:lstStyle/>
          <a:p>
            <a:pPr algn="ctr" indent="0" marL="0">
              <a:buNone/>
            </a:pPr>
            <a:r>
              <a:rPr lang="en-US" sz="900" b="1" dirty="0">
                <a:solidFill>
                  <a:srgbClr val="5AF078"/>
                </a:solidFill>
                <a:latin typeface="Consolas" pitchFamily="34" charset="0"/>
                <a:ea typeface="Consolas" pitchFamily="34" charset="-122"/>
                <a:cs typeface="Consolas" pitchFamily="34" charset="-120"/>
              </a:rPr>
              <a:t>Setup-1.3.1.exe</a:t>
            </a:r>
            <a:endParaRPr lang="en-US" sz="900" dirty="0"/>
          </a:p>
        </p:txBody>
      </p:sp>
      <p:sp>
        <p:nvSpPr>
          <p:cNvPr id="20" name="Text 18"/>
          <p:cNvSpPr/>
          <p:nvPr/>
        </p:nvSpPr>
        <p:spPr>
          <a:xfrm>
            <a:off x="3429000" y="3639312"/>
            <a:ext cx="2468880" cy="32004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Installer et lancer</a:t>
            </a:r>
            <a:endParaRPr lang="en-US" sz="1000" dirty="0"/>
          </a:p>
        </p:txBody>
      </p:sp>
      <p:sp>
        <p:nvSpPr>
          <p:cNvPr id="21" name="Shape 19"/>
          <p:cNvSpPr/>
          <p:nvPr/>
        </p:nvSpPr>
        <p:spPr>
          <a:xfrm>
            <a:off x="6172200" y="1261872"/>
            <a:ext cx="2651760" cy="342900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22" name="Shape 20"/>
          <p:cNvSpPr/>
          <p:nvPr/>
        </p:nvSpPr>
        <p:spPr>
          <a:xfrm>
            <a:off x="6172200" y="1261872"/>
            <a:ext cx="2651760" cy="73152"/>
          </a:xfrm>
          <a:prstGeom prst="rect">
            <a:avLst/>
          </a:prstGeom>
          <a:solidFill>
            <a:srgbClr val="7C3AED"/>
          </a:solidFill>
          <a:ln w="12700">
            <a:solidFill>
              <a:srgbClr val="7C3AED"/>
            </a:solidFill>
            <a:prstDash val="solid"/>
          </a:ln>
        </p:spPr>
      </p:sp>
      <p:sp>
        <p:nvSpPr>
          <p:cNvPr id="23" name="Text 21"/>
          <p:cNvSpPr/>
          <p:nvPr/>
        </p:nvSpPr>
        <p:spPr>
          <a:xfrm>
            <a:off x="6172200" y="1408176"/>
            <a:ext cx="2651760" cy="713232"/>
          </a:xfrm>
          <a:prstGeom prst="rect">
            <a:avLst/>
          </a:prstGeom>
          <a:noFill/>
          <a:ln/>
        </p:spPr>
        <p:txBody>
          <a:bodyPr wrap="square" lIns="0" tIns="0" rIns="0" bIns="0" rtlCol="0" anchor="ctr"/>
          <a:lstStyle/>
          <a:p>
            <a:pPr algn="ctr" indent="0" marL="0">
              <a:buNone/>
            </a:pPr>
            <a:r>
              <a:rPr lang="en-US" sz="3800" dirty="0">
                <a:solidFill>
                  <a:srgbClr val="000000"/>
                </a:solidFill>
                <a:latin typeface="Calibri" pitchFamily="34" charset="0"/>
                <a:ea typeface="Calibri" pitchFamily="34" charset="-122"/>
                <a:cs typeface="Calibri" pitchFamily="34" charset="-120"/>
              </a:rPr>
              <a:t>🍎</a:t>
            </a:r>
            <a:endParaRPr lang="en-US" sz="3800" dirty="0"/>
          </a:p>
        </p:txBody>
      </p:sp>
      <p:sp>
        <p:nvSpPr>
          <p:cNvPr id="24" name="Text 22"/>
          <p:cNvSpPr/>
          <p:nvPr/>
        </p:nvSpPr>
        <p:spPr>
          <a:xfrm>
            <a:off x="6263640" y="2157984"/>
            <a:ext cx="2468880" cy="402336"/>
          </a:xfrm>
          <a:prstGeom prst="rect">
            <a:avLst/>
          </a:prstGeom>
          <a:noFill/>
          <a:ln/>
        </p:spPr>
        <p:txBody>
          <a:bodyPr wrap="square" lIns="0" tIns="0" rIns="0" bIns="0" rtlCol="0" anchor="ctr"/>
          <a:lstStyle/>
          <a:p>
            <a:pPr algn="ctr" indent="0" marL="0">
              <a:buNone/>
            </a:pPr>
            <a:r>
              <a:rPr lang="en-US" sz="1300" b="1" dirty="0">
                <a:solidFill>
                  <a:srgbClr val="1C1C1E"/>
                </a:solidFill>
                <a:latin typeface="Calibri" pitchFamily="34" charset="0"/>
                <a:ea typeface="Calibri" pitchFamily="34" charset="-122"/>
                <a:cs typeface="Calibri" pitchFamily="34" charset="-120"/>
              </a:rPr>
              <a:t>Mac Apple Silicon</a:t>
            </a:r>
            <a:endParaRPr lang="en-US" sz="1300" dirty="0"/>
          </a:p>
        </p:txBody>
      </p:sp>
      <p:sp>
        <p:nvSpPr>
          <p:cNvPr id="25" name="Text 23"/>
          <p:cNvSpPr/>
          <p:nvPr/>
        </p:nvSpPr>
        <p:spPr>
          <a:xfrm>
            <a:off x="6263640" y="2560320"/>
            <a:ext cx="246888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MacBook M1, M2, M3, M4</a:t>
            </a:r>
            <a:endParaRPr lang="en-US" sz="1100" dirty="0"/>
          </a:p>
        </p:txBody>
      </p:sp>
      <p:sp>
        <p:nvSpPr>
          <p:cNvPr id="26" name="Shape 24"/>
          <p:cNvSpPr/>
          <p:nvPr/>
        </p:nvSpPr>
        <p:spPr>
          <a:xfrm>
            <a:off x="6263640" y="2999232"/>
            <a:ext cx="2468880" cy="502920"/>
          </a:xfrm>
          <a:prstGeom prst="rect">
            <a:avLst/>
          </a:prstGeom>
          <a:solidFill>
            <a:srgbClr val="1C1C1E"/>
          </a:solidFill>
          <a:ln w="12700">
            <a:solidFill>
              <a:srgbClr val="1C1C1E"/>
            </a:solidFill>
            <a:prstDash val="solid"/>
          </a:ln>
        </p:spPr>
      </p:sp>
      <p:sp>
        <p:nvSpPr>
          <p:cNvPr id="27" name="Text 25"/>
          <p:cNvSpPr/>
          <p:nvPr/>
        </p:nvSpPr>
        <p:spPr>
          <a:xfrm>
            <a:off x="6263640" y="2999232"/>
            <a:ext cx="2468880" cy="502920"/>
          </a:xfrm>
          <a:prstGeom prst="rect">
            <a:avLst/>
          </a:prstGeom>
          <a:noFill/>
          <a:ln/>
        </p:spPr>
        <p:txBody>
          <a:bodyPr wrap="square" lIns="0" tIns="0" rIns="0" bIns="0" rtlCol="0" anchor="ctr"/>
          <a:lstStyle/>
          <a:p>
            <a:pPr algn="ctr" indent="0" marL="0">
              <a:buNone/>
            </a:pPr>
            <a:r>
              <a:rPr lang="en-US" sz="900" b="1" dirty="0">
                <a:solidFill>
                  <a:srgbClr val="5AF078"/>
                </a:solidFill>
                <a:latin typeface="Consolas" pitchFamily="34" charset="0"/>
                <a:ea typeface="Consolas" pitchFamily="34" charset="-122"/>
                <a:cs typeface="Consolas" pitchFamily="34" charset="-120"/>
              </a:rPr>
              <a:t>1.3.1-arm64.dmg</a:t>
            </a:r>
            <a:endParaRPr lang="en-US" sz="900" dirty="0"/>
          </a:p>
        </p:txBody>
      </p:sp>
      <p:sp>
        <p:nvSpPr>
          <p:cNvPr id="28" name="Text 26"/>
          <p:cNvSpPr/>
          <p:nvPr/>
        </p:nvSpPr>
        <p:spPr>
          <a:xfrm>
            <a:off x="6263640" y="3639312"/>
            <a:ext cx="2468880" cy="32004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Glisser dans Applications</a:t>
            </a:r>
            <a:endParaRPr lang="en-US" sz="1000" dirty="0"/>
          </a:p>
        </p:txBody>
      </p:sp>
      <p:sp>
        <p:nvSpPr>
          <p:cNvPr id="29" name="Shape 27"/>
          <p:cNvSpPr/>
          <p:nvPr/>
        </p:nvSpPr>
        <p:spPr>
          <a:xfrm>
            <a:off x="9006840" y="1261872"/>
            <a:ext cx="2651760" cy="3429000"/>
          </a:xfrm>
          <a:prstGeom prst="rect">
            <a:avLst/>
          </a:prstGeom>
          <a:solidFill>
            <a:srgbClr val="FFFFFF"/>
          </a:solidFill>
          <a:ln w="12700">
            <a:solidFill>
              <a:srgbClr val="E5E0D5"/>
            </a:solidFill>
            <a:prstDash val="solid"/>
          </a:ln>
          <a:effectLst>
            <a:outerShdw sx="100000" sy="100000" kx="0" ky="0" algn="bl" rotWithShape="0" blurRad="63500" dist="25400" dir="8100000">
              <a:srgbClr val="000000">
                <a:alpha val="10000"/>
              </a:srgbClr>
            </a:outerShdw>
          </a:effectLst>
        </p:spPr>
      </p:sp>
      <p:sp>
        <p:nvSpPr>
          <p:cNvPr id="30" name="Shape 28"/>
          <p:cNvSpPr/>
          <p:nvPr/>
        </p:nvSpPr>
        <p:spPr>
          <a:xfrm>
            <a:off x="9006840" y="1261872"/>
            <a:ext cx="2651760" cy="73152"/>
          </a:xfrm>
          <a:prstGeom prst="rect">
            <a:avLst/>
          </a:prstGeom>
          <a:solidFill>
            <a:srgbClr val="1D4ED8"/>
          </a:solidFill>
          <a:ln w="12700">
            <a:solidFill>
              <a:srgbClr val="1D4ED8"/>
            </a:solidFill>
            <a:prstDash val="solid"/>
          </a:ln>
        </p:spPr>
      </p:sp>
      <p:sp>
        <p:nvSpPr>
          <p:cNvPr id="31" name="Text 29"/>
          <p:cNvSpPr/>
          <p:nvPr/>
        </p:nvSpPr>
        <p:spPr>
          <a:xfrm>
            <a:off x="9006840" y="1408176"/>
            <a:ext cx="2651760" cy="713232"/>
          </a:xfrm>
          <a:prstGeom prst="rect">
            <a:avLst/>
          </a:prstGeom>
          <a:noFill/>
          <a:ln/>
        </p:spPr>
        <p:txBody>
          <a:bodyPr wrap="square" lIns="0" tIns="0" rIns="0" bIns="0" rtlCol="0" anchor="ctr"/>
          <a:lstStyle/>
          <a:p>
            <a:pPr algn="ctr" indent="0" marL="0">
              <a:buNone/>
            </a:pPr>
            <a:r>
              <a:rPr lang="en-US" sz="3800" dirty="0">
                <a:solidFill>
                  <a:srgbClr val="000000"/>
                </a:solidFill>
                <a:latin typeface="Calibri" pitchFamily="34" charset="0"/>
                <a:ea typeface="Calibri" pitchFamily="34" charset="-122"/>
                <a:cs typeface="Calibri" pitchFamily="34" charset="-120"/>
              </a:rPr>
              <a:t>🍎</a:t>
            </a:r>
            <a:endParaRPr lang="en-US" sz="3800" dirty="0"/>
          </a:p>
        </p:txBody>
      </p:sp>
      <p:sp>
        <p:nvSpPr>
          <p:cNvPr id="32" name="Text 30"/>
          <p:cNvSpPr/>
          <p:nvPr/>
        </p:nvSpPr>
        <p:spPr>
          <a:xfrm>
            <a:off x="9098280" y="2157984"/>
            <a:ext cx="2468880" cy="402336"/>
          </a:xfrm>
          <a:prstGeom prst="rect">
            <a:avLst/>
          </a:prstGeom>
          <a:noFill/>
          <a:ln/>
        </p:spPr>
        <p:txBody>
          <a:bodyPr wrap="square" lIns="0" tIns="0" rIns="0" bIns="0" rtlCol="0" anchor="ctr"/>
          <a:lstStyle/>
          <a:p>
            <a:pPr algn="ctr" indent="0" marL="0">
              <a:buNone/>
            </a:pPr>
            <a:r>
              <a:rPr lang="en-US" sz="1300" b="1" dirty="0">
                <a:solidFill>
                  <a:srgbClr val="1C1C1E"/>
                </a:solidFill>
                <a:latin typeface="Calibri" pitchFamily="34" charset="0"/>
                <a:ea typeface="Calibri" pitchFamily="34" charset="-122"/>
                <a:cs typeface="Calibri" pitchFamily="34" charset="-120"/>
              </a:rPr>
              <a:t>Mac Intel</a:t>
            </a:r>
            <a:endParaRPr lang="en-US" sz="1300" dirty="0"/>
          </a:p>
        </p:txBody>
      </p:sp>
      <p:sp>
        <p:nvSpPr>
          <p:cNvPr id="33" name="Text 31"/>
          <p:cNvSpPr/>
          <p:nvPr/>
        </p:nvSpPr>
        <p:spPr>
          <a:xfrm>
            <a:off x="9098280" y="2560320"/>
            <a:ext cx="246888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MacBook avant 2020 (Intel)</a:t>
            </a:r>
            <a:endParaRPr lang="en-US" sz="1100" dirty="0"/>
          </a:p>
        </p:txBody>
      </p:sp>
      <p:sp>
        <p:nvSpPr>
          <p:cNvPr id="34" name="Shape 32"/>
          <p:cNvSpPr/>
          <p:nvPr/>
        </p:nvSpPr>
        <p:spPr>
          <a:xfrm>
            <a:off x="9098280" y="2999232"/>
            <a:ext cx="2468880" cy="502920"/>
          </a:xfrm>
          <a:prstGeom prst="rect">
            <a:avLst/>
          </a:prstGeom>
          <a:solidFill>
            <a:srgbClr val="1C1C1E"/>
          </a:solidFill>
          <a:ln w="12700">
            <a:solidFill>
              <a:srgbClr val="1C1C1E"/>
            </a:solidFill>
            <a:prstDash val="solid"/>
          </a:ln>
        </p:spPr>
      </p:sp>
      <p:sp>
        <p:nvSpPr>
          <p:cNvPr id="35" name="Text 33"/>
          <p:cNvSpPr/>
          <p:nvPr/>
        </p:nvSpPr>
        <p:spPr>
          <a:xfrm>
            <a:off x="9098280" y="2999232"/>
            <a:ext cx="2468880" cy="502920"/>
          </a:xfrm>
          <a:prstGeom prst="rect">
            <a:avLst/>
          </a:prstGeom>
          <a:noFill/>
          <a:ln/>
        </p:spPr>
        <p:txBody>
          <a:bodyPr wrap="square" lIns="0" tIns="0" rIns="0" bIns="0" rtlCol="0" anchor="ctr"/>
          <a:lstStyle/>
          <a:p>
            <a:pPr algn="ctr" indent="0" marL="0">
              <a:buNone/>
            </a:pPr>
            <a:r>
              <a:rPr lang="en-US" sz="900" b="1" dirty="0">
                <a:solidFill>
                  <a:srgbClr val="5AF078"/>
                </a:solidFill>
                <a:latin typeface="Consolas" pitchFamily="34" charset="0"/>
                <a:ea typeface="Consolas" pitchFamily="34" charset="-122"/>
                <a:cs typeface="Consolas" pitchFamily="34" charset="-120"/>
              </a:rPr>
              <a:t>1.3.1.dmg</a:t>
            </a:r>
            <a:endParaRPr lang="en-US" sz="900" dirty="0"/>
          </a:p>
        </p:txBody>
      </p:sp>
      <p:sp>
        <p:nvSpPr>
          <p:cNvPr id="36" name="Text 34"/>
          <p:cNvSpPr/>
          <p:nvPr/>
        </p:nvSpPr>
        <p:spPr>
          <a:xfrm>
            <a:off x="9098280" y="3639312"/>
            <a:ext cx="2468880" cy="32004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Glisser dans Applications</a:t>
            </a:r>
            <a:endParaRPr lang="en-US" sz="1000" dirty="0"/>
          </a:p>
        </p:txBody>
      </p:sp>
      <p:sp>
        <p:nvSpPr>
          <p:cNvPr id="37" name="Text 35"/>
          <p:cNvSpPr/>
          <p:nvPr/>
        </p:nvSpPr>
        <p:spPr>
          <a:xfrm>
            <a:off x="457200" y="4919472"/>
            <a:ext cx="11247120" cy="329184"/>
          </a:xfrm>
          <a:prstGeom prst="rect">
            <a:avLst/>
          </a:prstGeom>
          <a:noFill/>
          <a:ln/>
        </p:spPr>
        <p:txBody>
          <a:bodyPr wrap="square" lIns="0" tIns="0" rIns="0" bIns="0" rtlCol="0" anchor="ctr"/>
          <a:lstStyle/>
          <a:p>
            <a:pPr algn="ctr" indent="0" marL="0">
              <a:buNone/>
            </a:pPr>
            <a:r>
              <a:rPr lang="en-US" sz="1200" u="sng" dirty="0">
                <a:solidFill>
                  <a:srgbClr val="6B728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  Toutes les versions : github.com/LilKslm/menu-246/releases/tag/v1.3.1</a:t>
            </a:r>
            <a:endParaRPr lang="en-US" sz="1200" dirty="0"/>
          </a:p>
        </p:txBody>
      </p:sp>
      <p:sp>
        <p:nvSpPr>
          <p:cNvPr id="38" name="Shape 36"/>
          <p:cNvSpPr/>
          <p:nvPr/>
        </p:nvSpPr>
        <p:spPr>
          <a:xfrm>
            <a:off x="0" y="5413248"/>
            <a:ext cx="12161520" cy="1444752"/>
          </a:xfrm>
          <a:prstGeom prst="rect">
            <a:avLst/>
          </a:prstGeom>
          <a:solidFill>
            <a:srgbClr val="E8621A"/>
          </a:solidFill>
          <a:ln w="12700">
            <a:solidFill>
              <a:srgbClr val="E8621A"/>
            </a:solidFill>
            <a:prstDash val="solid"/>
          </a:ln>
        </p:spPr>
      </p:sp>
      <p:sp>
        <p:nvSpPr>
          <p:cNvPr id="39" name="Text 37"/>
          <p:cNvSpPr/>
          <p:nvPr/>
        </p:nvSpPr>
        <p:spPr>
          <a:xfrm>
            <a:off x="457200" y="5477256"/>
            <a:ext cx="11247120"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Des questions ou des idées ?</a:t>
            </a:r>
            <a:endParaRPr lang="en-US" sz="1800" dirty="0"/>
          </a:p>
        </p:txBody>
      </p:sp>
      <p:sp>
        <p:nvSpPr>
          <p:cNvPr id="40" name="Text 38"/>
          <p:cNvSpPr/>
          <p:nvPr/>
        </p:nvSpPr>
        <p:spPr>
          <a:xfrm>
            <a:off x="457200" y="5925312"/>
            <a:ext cx="11247120" cy="347472"/>
          </a:xfrm>
          <a:prstGeom prst="rect">
            <a:avLst/>
          </a:prstGeom>
          <a:noFill/>
          <a:ln/>
        </p:spPr>
        <p:txBody>
          <a:bodyPr wrap="square" lIns="0" tIns="0" rIns="0" bIns="0" rtlCol="0" anchor="ctr"/>
          <a:lstStyle/>
          <a:p>
            <a:pPr algn="ctr" indent="0" marL="0">
              <a:buNone/>
            </a:pPr>
            <a:r>
              <a:rPr lang="en-US" sz="1300" dirty="0">
                <a:solidFill>
                  <a:srgbClr val="FFEDDE"/>
                </a:solidFill>
                <a:latin typeface="Calibri" pitchFamily="34" charset="0"/>
                <a:ea typeface="Calibri" pitchFamily="34" charset="-122"/>
                <a:cs typeface="Calibri" pitchFamily="34" charset="-120"/>
              </a:rPr>
              <a:t>Cliquez sur 💬 Avis dans l'app pour nous écrire directement.</a:t>
            </a:r>
            <a:endParaRPr lang="en-US" sz="1300" dirty="0"/>
          </a:p>
        </p:txBody>
      </p:sp>
      <p:sp>
        <p:nvSpPr>
          <p:cNvPr id="41" name="Text 39"/>
          <p:cNvSpPr/>
          <p:nvPr/>
        </p:nvSpPr>
        <p:spPr>
          <a:xfrm>
            <a:off x="457200" y="6309360"/>
            <a:ext cx="11247120" cy="274320"/>
          </a:xfrm>
          <a:prstGeom prst="rect">
            <a:avLst/>
          </a:prstGeom>
          <a:noFill/>
          <a:ln/>
        </p:spPr>
        <p:txBody>
          <a:bodyPr wrap="square" lIns="0" tIns="0" rIns="0" bIns="0" rtlCol="0" anchor="ctr"/>
          <a:lstStyle/>
          <a:p>
            <a:pPr algn="ctr" indent="0" marL="0">
              <a:buNone/>
            </a:pPr>
            <a:r>
              <a:rPr lang="en-US" sz="1100" dirty="0">
                <a:solidFill>
                  <a:srgbClr val="FFEDDE"/>
                </a:solidFill>
                <a:latin typeface="Calibri" pitchFamily="34" charset="0"/>
                <a:ea typeface="Calibri" pitchFamily="34" charset="-122"/>
                <a:cs typeface="Calibri" pitchFamily="34" charset="-120"/>
              </a:rPr>
              <a:t>Fait par Chef Khalil  ·  Menu 246  ·  2026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EF9"/>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1C1C1E"/>
          </a:solidFill>
          <a:ln w="12700">
            <a:solidFill>
              <a:srgbClr val="1C1C1E"/>
            </a:solidFill>
            <a:prstDash val="solid"/>
          </a:ln>
        </p:spPr>
      </p:sp>
      <p:sp>
        <p:nvSpPr>
          <p:cNvPr id="3" name="Text 1"/>
          <p:cNvSpPr/>
          <p:nvPr/>
        </p:nvSpPr>
        <p:spPr>
          <a:xfrm>
            <a:off x="457200" y="201168"/>
            <a:ext cx="11247120" cy="594360"/>
          </a:xfrm>
          <a:prstGeom prst="rect">
            <a:avLst/>
          </a:prstGeom>
          <a:noFill/>
          <a:ln/>
        </p:spPr>
        <p:txBody>
          <a:bodyPr wrap="square" lIns="0" tIns="0" rIns="0" bIns="0" rtlCol="0" anchor="ctr"/>
          <a:lstStyle/>
          <a:p>
            <a:pPr algn="l" indent="0" marL="0">
              <a:buNone/>
            </a:pPr>
            <a:r>
              <a:rPr lang="en-US" sz="2800" b="1" dirty="0">
                <a:solidFill>
                  <a:srgbClr val="1C1C1E"/>
                </a:solidFill>
                <a:latin typeface="Georgia" pitchFamily="34" charset="0"/>
                <a:ea typeface="Georgia" pitchFamily="34" charset="-122"/>
                <a:cs typeface="Georgia" pitchFamily="34" charset="-120"/>
              </a:rPr>
              <a:t>Mac : Ouvrir l'app pour la première fois</a:t>
            </a:r>
            <a:endParaRPr lang="en-US" sz="2800" dirty="0"/>
          </a:p>
        </p:txBody>
      </p:sp>
      <p:sp>
        <p:nvSpPr>
          <p:cNvPr id="4" name="Text 2"/>
          <p:cNvSpPr/>
          <p:nvPr/>
        </p:nvSpPr>
        <p:spPr>
          <a:xfrm>
            <a:off x="457200" y="777240"/>
            <a:ext cx="11247120" cy="320040"/>
          </a:xfrm>
          <a:prstGeom prst="rect">
            <a:avLst/>
          </a:prstGeom>
          <a:noFill/>
          <a:ln/>
        </p:spPr>
        <p:txBody>
          <a:bodyPr wrap="square" lIns="0" tIns="0" rIns="0" bIns="0" rtlCol="0" anchor="ctr"/>
          <a:lstStyle/>
          <a:p>
            <a:pPr algn="l" indent="0" marL="0">
              <a:buNone/>
            </a:pPr>
            <a:r>
              <a:rPr lang="en-US" sz="1400" dirty="0">
                <a:solidFill>
                  <a:srgbClr val="6B7280"/>
                </a:solidFill>
                <a:latin typeface="Calibri" pitchFamily="34" charset="0"/>
                <a:ea typeface="Calibri" pitchFamily="34" charset="-122"/>
                <a:cs typeface="Calibri" pitchFamily="34" charset="-120"/>
              </a:rPr>
              <a:t>macOS bloque les apps non signées — voici comment contourner ça</a:t>
            </a:r>
            <a:endParaRPr lang="en-US" sz="1400" dirty="0"/>
          </a:p>
        </p:txBody>
      </p:sp>
      <p:sp>
        <p:nvSpPr>
          <p:cNvPr id="5" name="Shape 3"/>
          <p:cNvSpPr/>
          <p:nvPr/>
        </p:nvSpPr>
        <p:spPr>
          <a:xfrm>
            <a:off x="457200" y="1298448"/>
            <a:ext cx="5394960" cy="3977640"/>
          </a:xfrm>
          <a:prstGeom prst="rect">
            <a:avLst/>
          </a:prstGeom>
          <a:solidFill>
            <a:srgbClr val="FFFFFF"/>
          </a:solidFill>
          <a:ln w="12700">
            <a:solidFill>
              <a:srgbClr val="E5E0D5"/>
            </a:solidFill>
            <a:prstDash val="solid"/>
          </a:ln>
        </p:spPr>
      </p:sp>
      <p:sp>
        <p:nvSpPr>
          <p:cNvPr id="6" name="Shape 4"/>
          <p:cNvSpPr/>
          <p:nvPr/>
        </p:nvSpPr>
        <p:spPr>
          <a:xfrm>
            <a:off x="457200" y="1298448"/>
            <a:ext cx="64008" cy="3977640"/>
          </a:xfrm>
          <a:prstGeom prst="rect">
            <a:avLst/>
          </a:prstGeom>
          <a:solidFill>
            <a:srgbClr val="2D6A4F"/>
          </a:solidFill>
          <a:ln w="12700">
            <a:solidFill>
              <a:srgbClr val="2D6A4F"/>
            </a:solidFill>
            <a:prstDash val="solid"/>
          </a:ln>
        </p:spPr>
      </p:sp>
      <p:sp>
        <p:nvSpPr>
          <p:cNvPr id="7" name="Text 5"/>
          <p:cNvSpPr/>
          <p:nvPr/>
        </p:nvSpPr>
        <p:spPr>
          <a:xfrm>
            <a:off x="658368" y="1408176"/>
            <a:ext cx="5138928" cy="402336"/>
          </a:xfrm>
          <a:prstGeom prst="rect">
            <a:avLst/>
          </a:prstGeom>
          <a:noFill/>
          <a:ln/>
        </p:spPr>
        <p:txBody>
          <a:bodyPr wrap="square" lIns="0" tIns="0" rIns="0" bIns="0" rtlCol="0" anchor="ctr"/>
          <a:lstStyle/>
          <a:p>
            <a:pPr algn="l" indent="0" marL="0">
              <a:buNone/>
            </a:pPr>
            <a:r>
              <a:rPr lang="en-US" sz="1400" b="1" dirty="0">
                <a:solidFill>
                  <a:srgbClr val="1C1C1E"/>
                </a:solidFill>
                <a:latin typeface="Calibri" pitchFamily="34" charset="0"/>
                <a:ea typeface="Calibri" pitchFamily="34" charset="-122"/>
                <a:cs typeface="Calibri" pitchFamily="34" charset="-120"/>
              </a:rPr>
              <a:t>Méthode — La plus simple</a:t>
            </a:r>
            <a:endParaRPr lang="en-US" sz="1400" dirty="0"/>
          </a:p>
        </p:txBody>
      </p:sp>
      <p:sp>
        <p:nvSpPr>
          <p:cNvPr id="8" name="Shape 6"/>
          <p:cNvSpPr/>
          <p:nvPr/>
        </p:nvSpPr>
        <p:spPr>
          <a:xfrm>
            <a:off x="658368" y="1975104"/>
            <a:ext cx="292608" cy="292608"/>
          </a:xfrm>
          <a:prstGeom prst="ellipse">
            <a:avLst/>
          </a:prstGeom>
          <a:solidFill>
            <a:srgbClr val="E8621A"/>
          </a:solidFill>
          <a:ln w="12700">
            <a:solidFill>
              <a:srgbClr val="E8621A"/>
            </a:solidFill>
            <a:prstDash val="solid"/>
          </a:ln>
        </p:spPr>
      </p:sp>
      <p:sp>
        <p:nvSpPr>
          <p:cNvPr id="9" name="Text 7"/>
          <p:cNvSpPr/>
          <p:nvPr/>
        </p:nvSpPr>
        <p:spPr>
          <a:xfrm>
            <a:off x="658368" y="19751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p:nvPr/>
        </p:nvSpPr>
        <p:spPr>
          <a:xfrm>
            <a:off x="1042416" y="1920240"/>
            <a:ext cx="4754880" cy="402336"/>
          </a:xfrm>
          <a:prstGeom prst="rect">
            <a:avLst/>
          </a:prstGeom>
          <a:noFill/>
          <a:ln/>
        </p:spPr>
        <p:txBody>
          <a:bodyPr wrap="square" lIns="0" tIns="0" rIns="0" bIns="0" rtlCol="0" anchor="ctr"/>
          <a:lstStyle/>
          <a:p>
            <a:pPr algn="l" indent="0" marL="0">
              <a:buNone/>
            </a:pPr>
            <a:r>
              <a:rPr lang="en-US" sz="1200" dirty="0">
                <a:solidFill>
                  <a:srgbClr val="1C1C1E"/>
                </a:solidFill>
                <a:latin typeface="Calibri" pitchFamily="34" charset="0"/>
                <a:ea typeface="Calibri" pitchFamily="34" charset="-122"/>
                <a:cs typeface="Calibri" pitchFamily="34" charset="-120"/>
              </a:rPr>
              <a:t>Téléchargez le .dmg et glissez l'app dans Applications</a:t>
            </a:r>
            <a:endParaRPr lang="en-US" sz="1200" dirty="0"/>
          </a:p>
        </p:txBody>
      </p:sp>
      <p:sp>
        <p:nvSpPr>
          <p:cNvPr id="11" name="Shape 9"/>
          <p:cNvSpPr/>
          <p:nvPr/>
        </p:nvSpPr>
        <p:spPr>
          <a:xfrm>
            <a:off x="658368" y="2450592"/>
            <a:ext cx="292608" cy="292608"/>
          </a:xfrm>
          <a:prstGeom prst="ellipse">
            <a:avLst/>
          </a:prstGeom>
          <a:solidFill>
            <a:srgbClr val="E8621A"/>
          </a:solidFill>
          <a:ln w="12700">
            <a:solidFill>
              <a:srgbClr val="E8621A"/>
            </a:solidFill>
            <a:prstDash val="solid"/>
          </a:ln>
        </p:spPr>
      </p:sp>
      <p:sp>
        <p:nvSpPr>
          <p:cNvPr id="12" name="Text 10"/>
          <p:cNvSpPr/>
          <p:nvPr/>
        </p:nvSpPr>
        <p:spPr>
          <a:xfrm>
            <a:off x="658368" y="24505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p:nvPr/>
        </p:nvSpPr>
        <p:spPr>
          <a:xfrm>
            <a:off x="1042416" y="2395728"/>
            <a:ext cx="4754880" cy="402336"/>
          </a:xfrm>
          <a:prstGeom prst="rect">
            <a:avLst/>
          </a:prstGeom>
          <a:noFill/>
          <a:ln/>
        </p:spPr>
        <p:txBody>
          <a:bodyPr wrap="square" lIns="0" tIns="0" rIns="0" bIns="0" rtlCol="0" anchor="ctr"/>
          <a:lstStyle/>
          <a:p>
            <a:pPr algn="l" indent="0" marL="0">
              <a:buNone/>
            </a:pPr>
            <a:r>
              <a:rPr lang="en-US" sz="1200" dirty="0">
                <a:solidFill>
                  <a:srgbClr val="1C1C1E"/>
                </a:solidFill>
                <a:latin typeface="Calibri" pitchFamily="34" charset="0"/>
                <a:ea typeface="Calibri" pitchFamily="34" charset="-122"/>
                <a:cs typeface="Calibri" pitchFamily="34" charset="-120"/>
              </a:rPr>
              <a:t>Ouvrez Terminal (Cmd+Espace → tapez "Terminal" → Entrée)</a:t>
            </a:r>
            <a:endParaRPr lang="en-US" sz="1200" dirty="0"/>
          </a:p>
        </p:txBody>
      </p:sp>
      <p:sp>
        <p:nvSpPr>
          <p:cNvPr id="14" name="Shape 12"/>
          <p:cNvSpPr/>
          <p:nvPr/>
        </p:nvSpPr>
        <p:spPr>
          <a:xfrm>
            <a:off x="658368" y="2926080"/>
            <a:ext cx="292608" cy="292608"/>
          </a:xfrm>
          <a:prstGeom prst="ellipse">
            <a:avLst/>
          </a:prstGeom>
          <a:solidFill>
            <a:srgbClr val="E8621A"/>
          </a:solidFill>
          <a:ln w="12700">
            <a:solidFill>
              <a:srgbClr val="E8621A"/>
            </a:solidFill>
            <a:prstDash val="solid"/>
          </a:ln>
        </p:spPr>
      </p:sp>
      <p:sp>
        <p:nvSpPr>
          <p:cNvPr id="15" name="Text 13"/>
          <p:cNvSpPr/>
          <p:nvPr/>
        </p:nvSpPr>
        <p:spPr>
          <a:xfrm>
            <a:off x="658368" y="292608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4"/>
          <p:cNvSpPr/>
          <p:nvPr/>
        </p:nvSpPr>
        <p:spPr>
          <a:xfrm>
            <a:off x="1042416" y="2871216"/>
            <a:ext cx="4754880" cy="402336"/>
          </a:xfrm>
          <a:prstGeom prst="rect">
            <a:avLst/>
          </a:prstGeom>
          <a:noFill/>
          <a:ln/>
        </p:spPr>
        <p:txBody>
          <a:bodyPr wrap="square" lIns="0" tIns="0" rIns="0" bIns="0" rtlCol="0" anchor="ctr"/>
          <a:lstStyle/>
          <a:p>
            <a:pPr algn="l" indent="0" marL="0">
              <a:buNone/>
            </a:pPr>
            <a:r>
              <a:rPr lang="en-US" sz="1200" dirty="0">
                <a:solidFill>
                  <a:srgbClr val="1C1C1E"/>
                </a:solidFill>
                <a:latin typeface="Calibri" pitchFamily="34" charset="0"/>
                <a:ea typeface="Calibri" pitchFamily="34" charset="-122"/>
                <a:cs typeface="Calibri" pitchFamily="34" charset="-120"/>
              </a:rPr>
              <a:t>Copiez-collez cette commande :</a:t>
            </a:r>
            <a:endParaRPr lang="en-US" sz="1200" dirty="0"/>
          </a:p>
        </p:txBody>
      </p:sp>
      <p:sp>
        <p:nvSpPr>
          <p:cNvPr id="17" name="Shape 15"/>
          <p:cNvSpPr/>
          <p:nvPr/>
        </p:nvSpPr>
        <p:spPr>
          <a:xfrm>
            <a:off x="658368" y="3401568"/>
            <a:ext cx="5120640" cy="475488"/>
          </a:xfrm>
          <a:prstGeom prst="rect">
            <a:avLst/>
          </a:prstGeom>
          <a:solidFill>
            <a:srgbClr val="1C1C1E"/>
          </a:solidFill>
          <a:ln w="12700">
            <a:solidFill>
              <a:srgbClr val="1C1C1E"/>
            </a:solidFill>
            <a:prstDash val="solid"/>
          </a:ln>
        </p:spPr>
      </p:sp>
      <p:sp>
        <p:nvSpPr>
          <p:cNvPr id="18" name="Text 16"/>
          <p:cNvSpPr/>
          <p:nvPr/>
        </p:nvSpPr>
        <p:spPr>
          <a:xfrm>
            <a:off x="749808" y="3419856"/>
            <a:ext cx="4937760" cy="438912"/>
          </a:xfrm>
          <a:prstGeom prst="rect">
            <a:avLst/>
          </a:prstGeom>
          <a:noFill/>
          <a:ln/>
        </p:spPr>
        <p:txBody>
          <a:bodyPr wrap="square" lIns="0" tIns="0" rIns="0" bIns="0" rtlCol="0" anchor="ctr"/>
          <a:lstStyle/>
          <a:p>
            <a:pPr algn="l" indent="0" marL="0">
              <a:buNone/>
            </a:pPr>
            <a:r>
              <a:rPr lang="en-US" sz="1100" b="1" dirty="0">
                <a:solidFill>
                  <a:srgbClr val="5AF078"/>
                </a:solidFill>
                <a:latin typeface="Consolas" pitchFamily="34" charset="0"/>
                <a:ea typeface="Consolas" pitchFamily="34" charset="-122"/>
                <a:cs typeface="Consolas" pitchFamily="34" charset="-120"/>
              </a:rPr>
              <a:t>xattr -cr "/Applications/Menu246arm64.app"</a:t>
            </a:r>
            <a:endParaRPr lang="en-US" sz="1100" dirty="0"/>
          </a:p>
        </p:txBody>
      </p:sp>
      <p:sp>
        <p:nvSpPr>
          <p:cNvPr id="19" name="Shape 17"/>
          <p:cNvSpPr/>
          <p:nvPr/>
        </p:nvSpPr>
        <p:spPr>
          <a:xfrm>
            <a:off x="658368" y="4041648"/>
            <a:ext cx="292608" cy="292608"/>
          </a:xfrm>
          <a:prstGeom prst="ellipse">
            <a:avLst/>
          </a:prstGeom>
          <a:solidFill>
            <a:srgbClr val="E8621A"/>
          </a:solidFill>
          <a:ln w="12700">
            <a:solidFill>
              <a:srgbClr val="E8621A"/>
            </a:solidFill>
            <a:prstDash val="solid"/>
          </a:ln>
        </p:spPr>
      </p:sp>
      <p:sp>
        <p:nvSpPr>
          <p:cNvPr id="20" name="Text 18"/>
          <p:cNvSpPr/>
          <p:nvPr/>
        </p:nvSpPr>
        <p:spPr>
          <a:xfrm>
            <a:off x="658368" y="404164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1042416" y="3986784"/>
            <a:ext cx="4754880" cy="402336"/>
          </a:xfrm>
          <a:prstGeom prst="rect">
            <a:avLst/>
          </a:prstGeom>
          <a:noFill/>
          <a:ln/>
        </p:spPr>
        <p:txBody>
          <a:bodyPr wrap="square" lIns="0" tIns="0" rIns="0" bIns="0" rtlCol="0" anchor="ctr"/>
          <a:lstStyle/>
          <a:p>
            <a:pPr algn="l" indent="0" marL="0">
              <a:buNone/>
            </a:pPr>
            <a:r>
              <a:rPr lang="en-US" sz="1200" dirty="0">
                <a:solidFill>
                  <a:srgbClr val="1C1C1E"/>
                </a:solidFill>
                <a:latin typeface="Calibri" pitchFamily="34" charset="0"/>
                <a:ea typeface="Calibri" pitchFamily="34" charset="-122"/>
                <a:cs typeface="Calibri" pitchFamily="34" charset="-120"/>
              </a:rPr>
              <a:t>Appuyez sur Entrée</a:t>
            </a:r>
            <a:endParaRPr lang="en-US" sz="1200" dirty="0"/>
          </a:p>
        </p:txBody>
      </p:sp>
      <p:sp>
        <p:nvSpPr>
          <p:cNvPr id="22" name="Shape 20"/>
          <p:cNvSpPr/>
          <p:nvPr/>
        </p:nvSpPr>
        <p:spPr>
          <a:xfrm>
            <a:off x="658368" y="4517136"/>
            <a:ext cx="292608" cy="292608"/>
          </a:xfrm>
          <a:prstGeom prst="ellipse">
            <a:avLst/>
          </a:prstGeom>
          <a:solidFill>
            <a:srgbClr val="E8621A"/>
          </a:solidFill>
          <a:ln w="12700">
            <a:solidFill>
              <a:srgbClr val="E8621A"/>
            </a:solidFill>
            <a:prstDash val="solid"/>
          </a:ln>
        </p:spPr>
      </p:sp>
      <p:sp>
        <p:nvSpPr>
          <p:cNvPr id="23" name="Text 21"/>
          <p:cNvSpPr/>
          <p:nvPr/>
        </p:nvSpPr>
        <p:spPr>
          <a:xfrm>
            <a:off x="658368" y="45171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1042416" y="4462272"/>
            <a:ext cx="4754880" cy="402336"/>
          </a:xfrm>
          <a:prstGeom prst="rect">
            <a:avLst/>
          </a:prstGeom>
          <a:noFill/>
          <a:ln/>
        </p:spPr>
        <p:txBody>
          <a:bodyPr wrap="square" lIns="0" tIns="0" rIns="0" bIns="0" rtlCol="0" anchor="ctr"/>
          <a:lstStyle/>
          <a:p>
            <a:pPr algn="l" indent="0" marL="0">
              <a:buNone/>
            </a:pPr>
            <a:r>
              <a:rPr lang="en-US" sz="1200" dirty="0">
                <a:solidFill>
                  <a:srgbClr val="1C1C1E"/>
                </a:solidFill>
                <a:latin typeface="Calibri" pitchFamily="34" charset="0"/>
                <a:ea typeface="Calibri" pitchFamily="34" charset="-122"/>
                <a:cs typeface="Calibri" pitchFamily="34" charset="-120"/>
              </a:rPr>
              <a:t>Double-cliquez sur l'app — elle s'ouvre !</a:t>
            </a:r>
            <a:endParaRPr lang="en-US" sz="1200" dirty="0"/>
          </a:p>
        </p:txBody>
      </p:sp>
      <p:sp>
        <p:nvSpPr>
          <p:cNvPr id="25" name="Shape 23"/>
          <p:cNvSpPr/>
          <p:nvPr/>
        </p:nvSpPr>
        <p:spPr>
          <a:xfrm>
            <a:off x="6309360" y="1298448"/>
            <a:ext cx="5394960" cy="3977640"/>
          </a:xfrm>
          <a:prstGeom prst="rect">
            <a:avLst/>
          </a:prstGeom>
          <a:solidFill>
            <a:srgbClr val="FFFFFF"/>
          </a:solidFill>
          <a:ln w="12700">
            <a:solidFill>
              <a:srgbClr val="E5E0D5"/>
            </a:solidFill>
            <a:prstDash val="solid"/>
          </a:ln>
        </p:spPr>
      </p:sp>
      <p:sp>
        <p:nvSpPr>
          <p:cNvPr id="26" name="Shape 24"/>
          <p:cNvSpPr/>
          <p:nvPr/>
        </p:nvSpPr>
        <p:spPr>
          <a:xfrm>
            <a:off x="6309360" y="1298448"/>
            <a:ext cx="64008" cy="3977640"/>
          </a:xfrm>
          <a:prstGeom prst="rect">
            <a:avLst/>
          </a:prstGeom>
          <a:solidFill>
            <a:srgbClr val="2D6A4F"/>
          </a:solidFill>
          <a:ln w="12700">
            <a:solidFill>
              <a:srgbClr val="2D6A4F"/>
            </a:solidFill>
            <a:prstDash val="solid"/>
          </a:ln>
        </p:spPr>
      </p:sp>
      <p:sp>
        <p:nvSpPr>
          <p:cNvPr id="27" name="Text 25"/>
          <p:cNvSpPr/>
          <p:nvPr/>
        </p:nvSpPr>
        <p:spPr>
          <a:xfrm>
            <a:off x="6510528" y="1408176"/>
            <a:ext cx="5138928" cy="402336"/>
          </a:xfrm>
          <a:prstGeom prst="rect">
            <a:avLst/>
          </a:prstGeom>
          <a:noFill/>
          <a:ln/>
        </p:spPr>
        <p:txBody>
          <a:bodyPr wrap="square" lIns="0" tIns="0" rIns="0" bIns="0" rtlCol="0" anchor="ctr"/>
          <a:lstStyle/>
          <a:p>
            <a:pPr algn="l" indent="0" marL="0">
              <a:buNone/>
            </a:pPr>
            <a:r>
              <a:rPr lang="en-US" sz="1400" b="1" dirty="0">
                <a:solidFill>
                  <a:srgbClr val="1C1C1E"/>
                </a:solidFill>
                <a:latin typeface="Calibri" pitchFamily="34" charset="0"/>
                <a:ea typeface="Calibri" pitchFamily="34" charset="-122"/>
                <a:cs typeface="Calibri" pitchFamily="34" charset="-120"/>
              </a:rPr>
              <a:t>Pourquoi cette commande ?</a:t>
            </a:r>
            <a:endParaRPr lang="en-US" sz="1400" dirty="0"/>
          </a:p>
        </p:txBody>
      </p:sp>
      <p:sp>
        <p:nvSpPr>
          <p:cNvPr id="28" name="Text 26"/>
          <p:cNvSpPr/>
          <p:nvPr/>
        </p:nvSpPr>
        <p:spPr>
          <a:xfrm>
            <a:off x="6510528" y="1938528"/>
            <a:ext cx="5138928" cy="621792"/>
          </a:xfrm>
          <a:prstGeom prst="rect">
            <a:avLst/>
          </a:prstGeom>
          <a:noFill/>
          <a:ln/>
        </p:spPr>
        <p:txBody>
          <a:bodyPr wrap="square" lIns="0" tIns="0" rIns="0" bIns="0" rtlCol="0" anchor="ctr"/>
          <a:lstStyle/>
          <a:p>
            <a:pPr algn="l" indent="0" marL="0">
              <a:buNone/>
            </a:pPr>
            <a:r>
              <a:rPr lang="en-US" sz="1200" dirty="0">
                <a:solidFill>
                  <a:srgbClr val="1C1C1E"/>
                </a:solidFill>
                <a:latin typeface="Calibri" pitchFamily="34" charset="0"/>
                <a:ea typeface="Calibri" pitchFamily="34" charset="-122"/>
                <a:cs typeface="Calibri" pitchFamily="34" charset="-120"/>
              </a:rPr>
              <a:t>→  macOS ajoute un attribut 'quarantaine' aux apps téléchargées depuis internet</a:t>
            </a:r>
            <a:endParaRPr lang="en-US" sz="1200" dirty="0"/>
          </a:p>
        </p:txBody>
      </p:sp>
      <p:sp>
        <p:nvSpPr>
          <p:cNvPr id="29" name="Text 27"/>
          <p:cNvSpPr/>
          <p:nvPr/>
        </p:nvSpPr>
        <p:spPr>
          <a:xfrm>
            <a:off x="6510528" y="2688336"/>
            <a:ext cx="5138928" cy="621792"/>
          </a:xfrm>
          <a:prstGeom prst="rect">
            <a:avLst/>
          </a:prstGeom>
          <a:noFill/>
          <a:ln/>
        </p:spPr>
        <p:txBody>
          <a:bodyPr wrap="square" lIns="0" tIns="0" rIns="0" bIns="0" rtlCol="0" anchor="ctr"/>
          <a:lstStyle/>
          <a:p>
            <a:pPr algn="l" indent="0" marL="0">
              <a:buNone/>
            </a:pPr>
            <a:r>
              <a:rPr lang="en-US" sz="1200" dirty="0">
                <a:solidFill>
                  <a:srgbClr val="1C1C1E"/>
                </a:solidFill>
                <a:latin typeface="Calibri" pitchFamily="34" charset="0"/>
                <a:ea typeface="Calibri" pitchFamily="34" charset="-122"/>
                <a:cs typeface="Calibri" pitchFamily="34" charset="-120"/>
              </a:rPr>
              <a:t>→  La commande xattr -cr supprime cet attribut de sécurité</a:t>
            </a:r>
            <a:endParaRPr lang="en-US" sz="1200" dirty="0"/>
          </a:p>
        </p:txBody>
      </p:sp>
      <p:sp>
        <p:nvSpPr>
          <p:cNvPr id="30" name="Text 28"/>
          <p:cNvSpPr/>
          <p:nvPr/>
        </p:nvSpPr>
        <p:spPr>
          <a:xfrm>
            <a:off x="6510528" y="3438144"/>
            <a:ext cx="5138928" cy="621792"/>
          </a:xfrm>
          <a:prstGeom prst="rect">
            <a:avLst/>
          </a:prstGeom>
          <a:noFill/>
          <a:ln/>
        </p:spPr>
        <p:txBody>
          <a:bodyPr wrap="square" lIns="0" tIns="0" rIns="0" bIns="0" rtlCol="0" anchor="ctr"/>
          <a:lstStyle/>
          <a:p>
            <a:pPr algn="l" indent="0" marL="0">
              <a:buNone/>
            </a:pPr>
            <a:r>
              <a:rPr lang="en-US" sz="1200" dirty="0">
                <a:solidFill>
                  <a:srgbClr val="1C1C1E"/>
                </a:solidFill>
                <a:latin typeface="Calibri" pitchFamily="34" charset="0"/>
                <a:ea typeface="Calibri" pitchFamily="34" charset="-122"/>
                <a:cs typeface="Calibri" pitchFamily="34" charset="-120"/>
              </a:rPr>
              <a:t>→  L'app est entièrement sûre — c'est juste la protection Apple hors App Store</a:t>
            </a:r>
            <a:endParaRPr lang="en-US" sz="1200" dirty="0"/>
          </a:p>
        </p:txBody>
      </p:sp>
      <p:sp>
        <p:nvSpPr>
          <p:cNvPr id="31" name="Text 29"/>
          <p:cNvSpPr/>
          <p:nvPr/>
        </p:nvSpPr>
        <p:spPr>
          <a:xfrm>
            <a:off x="6510528" y="4187952"/>
            <a:ext cx="5138928" cy="621792"/>
          </a:xfrm>
          <a:prstGeom prst="rect">
            <a:avLst/>
          </a:prstGeom>
          <a:noFill/>
          <a:ln/>
        </p:spPr>
        <p:txBody>
          <a:bodyPr wrap="square" lIns="0" tIns="0" rIns="0" bIns="0" rtlCol="0" anchor="ctr"/>
          <a:lstStyle/>
          <a:p>
            <a:pPr algn="l" indent="0" marL="0">
              <a:buNone/>
            </a:pPr>
            <a:r>
              <a:rPr lang="en-US" sz="1200" dirty="0">
                <a:solidFill>
                  <a:srgbClr val="1C1C1E"/>
                </a:solidFill>
                <a:latin typeface="Calibri" pitchFamily="34" charset="0"/>
                <a:ea typeface="Calibri" pitchFamily="34" charset="-122"/>
                <a:cs typeface="Calibri" pitchFamily="34" charset="-120"/>
              </a:rPr>
              <a:t>→  Nécessaire une seule fois — ensuite l'app s'ouvre normalement</a:t>
            </a:r>
            <a:endParaRPr lang="en-US" sz="1200" dirty="0"/>
          </a:p>
        </p:txBody>
      </p:sp>
      <p:sp>
        <p:nvSpPr>
          <p:cNvPr id="32" name="Shape 30"/>
          <p:cNvSpPr/>
          <p:nvPr/>
        </p:nvSpPr>
        <p:spPr>
          <a:xfrm>
            <a:off x="457200" y="5440680"/>
            <a:ext cx="11247120" cy="1143000"/>
          </a:xfrm>
          <a:prstGeom prst="rect">
            <a:avLst/>
          </a:prstGeom>
          <a:solidFill>
            <a:srgbClr val="D5E8F5"/>
          </a:solidFill>
          <a:ln w="12700">
            <a:solidFill>
              <a:srgbClr val="E5E0D5"/>
            </a:solidFill>
            <a:prstDash val="solid"/>
          </a:ln>
        </p:spPr>
      </p:sp>
      <p:sp>
        <p:nvSpPr>
          <p:cNvPr id="33" name="Text 31"/>
          <p:cNvSpPr/>
          <p:nvPr/>
        </p:nvSpPr>
        <p:spPr>
          <a:xfrm>
            <a:off x="640080" y="5522976"/>
            <a:ext cx="10972800" cy="329184"/>
          </a:xfrm>
          <a:prstGeom prst="rect">
            <a:avLst/>
          </a:prstGeom>
          <a:noFill/>
          <a:ln/>
        </p:spPr>
        <p:txBody>
          <a:bodyPr wrap="square" lIns="0" tIns="0" rIns="0" bIns="0" rtlCol="0" anchor="ctr"/>
          <a:lstStyle/>
          <a:p>
            <a:pPr algn="l" indent="0" marL="0">
              <a:buNone/>
            </a:pPr>
            <a:r>
              <a:rPr lang="en-US" sz="1300" b="1" dirty="0">
                <a:solidFill>
                  <a:srgbClr val="1D4ED8"/>
                </a:solidFill>
                <a:latin typeface="Calibri" pitchFamily="34" charset="0"/>
                <a:ea typeface="Calibri" pitchFamily="34" charset="-122"/>
                <a:cs typeface="Calibri" pitchFamily="34" charset="-120"/>
              </a:rPr>
              <a:t>⚠️  Pourquoi ça arrive ?</a:t>
            </a:r>
            <a:endParaRPr lang="en-US" sz="1300" dirty="0"/>
          </a:p>
        </p:txBody>
      </p:sp>
      <p:sp>
        <p:nvSpPr>
          <p:cNvPr id="34" name="Text 32"/>
          <p:cNvSpPr/>
          <p:nvPr/>
        </p:nvSpPr>
        <p:spPr>
          <a:xfrm>
            <a:off x="640080" y="5870448"/>
            <a:ext cx="10972800" cy="502920"/>
          </a:xfrm>
          <a:prstGeom prst="rect">
            <a:avLst/>
          </a:prstGeom>
          <a:noFill/>
          <a:ln/>
        </p:spPr>
        <p:txBody>
          <a:bodyPr wrap="square" lIns="0" tIns="0" rIns="0" bIns="0" rtlCol="0" anchor="ctr"/>
          <a:lstStyle/>
          <a:p>
            <a:pPr algn="l" indent="0" marL="0">
              <a:buNone/>
            </a:pPr>
            <a:r>
              <a:rPr lang="en-US" sz="1200" dirty="0">
                <a:solidFill>
                  <a:srgbClr val="1D4ED8"/>
                </a:solidFill>
                <a:latin typeface="Calibri" pitchFamily="34" charset="0"/>
                <a:ea typeface="Calibri" pitchFamily="34" charset="-122"/>
                <a:cs typeface="Calibri" pitchFamily="34" charset="-120"/>
              </a:rPr>
              <a:t>macOS exige des apps signées (programme payant Apple). Menu 246 est un outil interne gratuit — non signé. L'app est entièrement sécurisée.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Menu 246 — Guide de Démonstration</dc:title>
  <dc:subject>PptxGenJS Presentation</dc:subject>
  <dc:creator>Chef Khalil</dc:creator>
  <cp:lastModifiedBy>Chef Khalil</cp:lastModifiedBy>
  <cp:revision>1</cp:revision>
  <dcterms:created xsi:type="dcterms:W3CDTF">2026-04-09T18:18:58Z</dcterms:created>
  <dcterms:modified xsi:type="dcterms:W3CDTF">2026-04-09T18:18:58Z</dcterms:modified>
</cp:coreProperties>
</file>